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7" r:id="rId9"/>
    <p:sldId id="263" r:id="rId10"/>
    <p:sldId id="264" r:id="rId11"/>
    <p:sldId id="268" r:id="rId12"/>
    <p:sldId id="265" r:id="rId13"/>
    <p:sldId id="266"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BB291B-7D70-E483-1341-6EBDB15021DB}">
          <p14:sldIdLst>
            <p14:sldId id="256"/>
          </p14:sldIdLst>
        </p14:section>
        <p14:section name="Story" id="{2D393112-3E9E-4BC1-E21E-BE60EFC510D9}">
          <p14:sldIdLst>
            <p14:sldId id="257"/>
            <p14:sldId id="258"/>
            <p14:sldId id="259"/>
            <p14:sldId id="260"/>
            <p14:sldId id="261"/>
          </p14:sldIdLst>
        </p14:section>
        <p14:section name="Proof" id="{36923405-5C0B-0482-0724-D89DCA88E535}">
          <p14:sldIdLst>
            <p14:sldId id="262"/>
            <p14:sldId id="267"/>
            <p14:sldId id="263"/>
            <p14:sldId id="264"/>
            <p14:sldId id="268"/>
          </p14:sldIdLst>
        </p14:section>
        <p14:section name="Close" id="{6F6D8395-7AC0-0BCA-4821-FD1F6AA86831}">
          <p14:sldIdLst>
            <p14:sldId id="265"/>
            <p14:sldId id="266"/>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1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8151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US" dirty="0"/>
              <a:t>Cover. Replace [Team Name] with the real team name. Project title for submission: [Team Name_IBM Z Datathon 2026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US" dirty="0"/>
              <a:t>Problem slide. Keep to ~25 seconds in the video. Only add a statistic if you can cite a source.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F 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txBody>
          <a:bodyPr/>
          <a:lstStyle/>
          <a:p>
            <a:endParaRPr lang="en-ZA"/>
          </a:p>
        </p:txBody>
      </p:sp>
      <p:sp>
        <p:nvSpPr>
          <p:cNvPr id="3"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bg2"/>
                </a:solidFill>
              </a:rPr>
              <a:t>QuakeFix  |  IBM Z Datathon 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F Conten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2"/>
          </a:solidFill>
          <a:ln/>
        </p:spPr>
        <p:txBody>
          <a:bodyPr/>
          <a:lstStyle/>
          <a:p>
            <a:endParaRPr lang="en-ZA"/>
          </a:p>
        </p:txBody>
      </p:sp>
      <p:sp>
        <p:nvSpPr>
          <p:cNvPr id="3" name="Text 1"/>
          <p:cNvSpPr>
            <a:spLocks noGrp="1"/>
          </p:cNvSpPr>
          <p:nvPr>
            <p:ph type="title" idx="101" hasCustomPrompt="1"/>
          </p:nvPr>
        </p:nvSpPr>
        <p:spPr>
          <a:xfrm>
            <a:off x="548640" y="365760"/>
            <a:ext cx="11064240" cy="822960"/>
          </a:xfrm>
          <a:prstGeom prst="rect">
            <a:avLst/>
          </a:prstGeom>
          <a:noFill/>
          <a:ln/>
        </p:spPr>
        <p:txBody>
          <a:bodyPr wrap="square" rtlCol="0"/>
          <a:lstStyle>
            <a:lvl1pPr marL="0" indent="0" algn="l">
              <a:buNone/>
              <a:defRPr lang="en-US" sz="36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600" dirty="0"/>
          </a:p>
        </p:txBody>
      </p:sp>
      <p:sp>
        <p:nvSpPr>
          <p:cNvPr id="4"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1"/>
                </a:solidFill>
              </a:rPr>
              <a:t>QuakeFix  |  IBM Z Datathon 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ircle"/>
          <p:cNvSpPr/>
          <p:nvPr/>
        </p:nvSpPr>
        <p:spPr>
          <a:xfrm>
            <a:off x="822960" y="1280160"/>
            <a:ext cx="1005840" cy="1005840"/>
          </a:xfrm>
          <a:prstGeom prst="ellipse">
            <a:avLst/>
          </a:prstGeom>
          <a:solidFill>
            <a:schemeClr val="accent1"/>
          </a:solidFill>
          <a:ln w="12700">
            <a:solidFill>
              <a:schemeClr val="accent1"/>
            </a:solidFill>
            <a:prstDash val="solid"/>
          </a:ln>
        </p:spPr>
        <p:txBody>
          <a:bodyPr/>
          <a:lstStyle/>
          <a:p>
            <a:endParaRPr lang="en-ZA"/>
          </a:p>
        </p:txBody>
      </p:sp>
      <p:pic>
        <p:nvPicPr>
          <p:cNvPr id="3" name="Cover icon" descr="preencoded.png"/>
          <p:cNvPicPr>
            <a:picLocks noChangeAspect="1"/>
          </p:cNvPicPr>
          <p:nvPr/>
        </p:nvPicPr>
        <p:blipFill>
          <a:blip r:embed="rId3"/>
          <a:stretch>
            <a:fillRect/>
          </a:stretch>
        </p:blipFill>
        <p:spPr>
          <a:xfrm>
            <a:off x="1084478" y="1541678"/>
            <a:ext cx="482803" cy="482803"/>
          </a:xfrm>
          <a:prstGeom prst="rect">
            <a:avLst/>
          </a:prstGeom>
        </p:spPr>
      </p:pic>
      <p:sp>
        <p:nvSpPr>
          <p:cNvPr id="4" name="Cover title"/>
          <p:cNvSpPr txBox="1"/>
          <p:nvPr/>
        </p:nvSpPr>
        <p:spPr>
          <a:xfrm>
            <a:off x="822960" y="2514600"/>
            <a:ext cx="1005840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QuakeFix</a:t>
            </a:r>
            <a:endParaRPr lang="en-US" sz="6600" dirty="0"/>
          </a:p>
        </p:txBody>
      </p:sp>
      <p:sp>
        <p:nvSpPr>
          <p:cNvPr id="5" name="Cover tagline"/>
          <p:cNvSpPr txBox="1"/>
          <p:nvPr/>
        </p:nvSpPr>
        <p:spPr>
          <a:xfrm>
            <a:off x="822960" y="3703320"/>
            <a:ext cx="10058400" cy="548640"/>
          </a:xfrm>
          <a:prstGeom prst="rect">
            <a:avLst/>
          </a:prstGeom>
          <a:noFill/>
          <a:ln/>
        </p:spPr>
        <p:txBody>
          <a:bodyPr wrap="square" lIns="0" tIns="0" rIns="0" bIns="0" rtlCol="0" anchor="ctr"/>
          <a:lstStyle/>
          <a:p>
            <a:pPr marL="0" indent="0">
              <a:buNone/>
            </a:pPr>
            <a:r>
              <a:rPr lang="en-US" sz="2400" i="1" dirty="0">
                <a:solidFill>
                  <a:schemeClr val="bg2"/>
                </a:solidFill>
              </a:rPr>
              <a:t>Not just a risk map: a human-approved action plan.</a:t>
            </a:r>
            <a:endParaRPr lang="en-US" sz="2400" dirty="0"/>
          </a:p>
        </p:txBody>
      </p:sp>
      <p:sp>
        <p:nvSpPr>
          <p:cNvPr id="6" name="Cover subtitle"/>
          <p:cNvSpPr txBox="1"/>
          <p:nvPr/>
        </p:nvSpPr>
        <p:spPr>
          <a:xfrm>
            <a:off x="822960" y="4389120"/>
            <a:ext cx="10058400" cy="365760"/>
          </a:xfrm>
          <a:prstGeom prst="rect">
            <a:avLst/>
          </a:prstGeom>
          <a:noFill/>
          <a:ln/>
        </p:spPr>
        <p:txBody>
          <a:bodyPr wrap="square" lIns="0" tIns="0" rIns="0" bIns="0" rtlCol="0" anchor="ctr"/>
          <a:lstStyle/>
          <a:p>
            <a:pPr marL="0" indent="0">
              <a:buNone/>
            </a:pPr>
            <a:r>
              <a:rPr lang="en-US" sz="1600" dirty="0">
                <a:solidFill>
                  <a:schemeClr val="accent6"/>
                </a:solidFill>
              </a:rPr>
              <a:t>Multi-Hazard Urban Resilience &amp; Emergency Orchestration Platform</a:t>
            </a:r>
            <a:endParaRPr lang="en-US" sz="1600" dirty="0"/>
          </a:p>
        </p:txBody>
      </p:sp>
      <p:sp>
        <p:nvSpPr>
          <p:cNvPr id="7" name="Cover team"/>
          <p:cNvSpPr txBox="1"/>
          <p:nvPr/>
        </p:nvSpPr>
        <p:spPr>
          <a:xfrm>
            <a:off x="822960" y="5120640"/>
            <a:ext cx="10058400" cy="365760"/>
          </a:xfrm>
          <a:prstGeom prst="rect">
            <a:avLst/>
          </a:prstGeom>
          <a:noFill/>
          <a:ln/>
        </p:spPr>
        <p:txBody>
          <a:bodyPr wrap="square" lIns="0" tIns="0" rIns="0" bIns="0" rtlCol="0" anchor="ctr"/>
          <a:lstStyle/>
          <a:p>
            <a:pPr marL="0" indent="0">
              <a:buNone/>
            </a:pPr>
            <a:r>
              <a:rPr lang="en-US" sz="1400" dirty="0" err="1">
                <a:solidFill>
                  <a:schemeClr val="bg2"/>
                </a:solidFill>
              </a:rPr>
              <a:t>Byte Debuggers</a:t>
            </a:r>
            <a:r>
              <a:rPr lang="en-US" sz="1400" dirty="0">
                <a:solidFill>
                  <a:schemeClr val="bg2"/>
                </a:solidFill>
              </a:rPr>
              <a:t>  |  IBM Z Datathon 2026  |  Real-Time AI for Critical Decisions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The problem: one quake, five failures</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disasters cascade, but emergency tools treat each hazard in its own silo.</a:t>
            </a:r>
            <a:endParaRPr lang="en-US" sz="1800" dirty="0"/>
          </a:p>
        </p:txBody>
      </p:sp>
      <p:sp>
        <p:nvSpPr>
          <p:cNvPr id="4" name="Chain 1 circle"/>
          <p:cNvSpPr/>
          <p:nvPr/>
        </p:nvSpPr>
        <p:spPr>
          <a:xfrm>
            <a:off x="1005840" y="2103120"/>
            <a:ext cx="1188720" cy="1188720"/>
          </a:xfrm>
          <a:prstGeom prst="ellipse">
            <a:avLst/>
          </a:prstGeom>
          <a:solidFill>
            <a:schemeClr val="accent2"/>
          </a:solidFill>
          <a:ln w="12700">
            <a:solidFill>
              <a:schemeClr val="accent2"/>
            </a:solidFill>
            <a:prstDash val="solid"/>
          </a:ln>
        </p:spPr>
        <p:txBody>
          <a:bodyPr/>
          <a:lstStyle/>
          <a:p>
            <a:endParaRPr lang="en-ZA"/>
          </a:p>
        </p:txBody>
      </p:sp>
      <p:pic>
        <p:nvPicPr>
          <p:cNvPr id="5" name="Chain 1 icon" descr="preencoded.png"/>
          <p:cNvPicPr>
            <a:picLocks noChangeAspect="1"/>
          </p:cNvPicPr>
          <p:nvPr/>
        </p:nvPicPr>
        <p:blipFill>
          <a:blip r:embed="rId3"/>
          <a:stretch>
            <a:fillRect/>
          </a:stretch>
        </p:blipFill>
        <p:spPr>
          <a:xfrm>
            <a:off x="1314907" y="2412187"/>
            <a:ext cx="570586" cy="570586"/>
          </a:xfrm>
          <a:prstGeom prst="rect">
            <a:avLst/>
          </a:prstGeom>
        </p:spPr>
      </p:pic>
      <p:sp>
        <p:nvSpPr>
          <p:cNvPr id="6" name="Chain label 1"/>
          <p:cNvSpPr txBox="1"/>
          <p:nvPr/>
        </p:nvSpPr>
        <p:spPr>
          <a:xfrm>
            <a:off x="640080" y="3429000"/>
            <a:ext cx="1920240" cy="548640"/>
          </a:xfrm>
          <a:prstGeom prst="rect">
            <a:avLst/>
          </a:prstGeom>
          <a:noFill/>
          <a:ln/>
        </p:spPr>
        <p:txBody>
          <a:bodyPr wrap="square" lIns="0" tIns="0" rIns="0" bIns="0" rtlCol="0" anchor="ctr"/>
          <a:lstStyle/>
          <a:p>
            <a:pPr marL="0" indent="0" algn="ctr">
              <a:buNone/>
            </a:pPr>
            <a:r>
              <a:rPr lang="en-US" sz="1600" b="1" dirty="0">
                <a:solidFill>
                  <a:schemeClr val="tx1"/>
                </a:solidFill>
              </a:rPr>
              <a:t>Earthquake</a:t>
            </a:r>
            <a:endParaRPr lang="en-US" sz="1600" dirty="0"/>
          </a:p>
        </p:txBody>
      </p:sp>
      <p:sp>
        <p:nvSpPr>
          <p:cNvPr id="7" name="Arrow 1"/>
          <p:cNvSpPr txBox="1"/>
          <p:nvPr/>
        </p:nvSpPr>
        <p:spPr>
          <a:xfrm>
            <a:off x="2240280" y="2331720"/>
            <a:ext cx="548640" cy="731520"/>
          </a:xfrm>
          <a:prstGeom prst="rect">
            <a:avLst/>
          </a:prstGeom>
          <a:noFill/>
          <a:ln/>
        </p:spPr>
        <p:txBody>
          <a:bodyPr wrap="square" lIns="0" tIns="0" rIns="0" bIns="0" rtlCol="0" anchor="ctr"/>
          <a:lstStyle/>
          <a:p>
            <a:pPr marL="0" indent="0" algn="ctr">
              <a:buNone/>
            </a:pPr>
            <a:r>
              <a:rPr lang="en-US" sz="3200" b="1" dirty="0">
                <a:solidFill>
                  <a:schemeClr val="tx1"/>
                </a:solidFill>
              </a:rPr>
              <a:t>→</a:t>
            </a:r>
            <a:endParaRPr lang="en-US" sz="3200" dirty="0"/>
          </a:p>
        </p:txBody>
      </p:sp>
      <p:sp>
        <p:nvSpPr>
          <p:cNvPr id="8" name="Chain 2 circle"/>
          <p:cNvSpPr/>
          <p:nvPr/>
        </p:nvSpPr>
        <p:spPr>
          <a:xfrm>
            <a:off x="3246120" y="2103120"/>
            <a:ext cx="1188720" cy="1188720"/>
          </a:xfrm>
          <a:prstGeom prst="ellipse">
            <a:avLst/>
          </a:prstGeom>
          <a:solidFill>
            <a:schemeClr val="accent3"/>
          </a:solidFill>
          <a:ln w="12700">
            <a:solidFill>
              <a:schemeClr val="accent3"/>
            </a:solidFill>
            <a:prstDash val="solid"/>
          </a:ln>
        </p:spPr>
        <p:txBody>
          <a:bodyPr/>
          <a:lstStyle/>
          <a:p>
            <a:endParaRPr lang="en-ZA"/>
          </a:p>
        </p:txBody>
      </p:sp>
      <p:pic>
        <p:nvPicPr>
          <p:cNvPr id="9" name="Chain 2 icon" descr="preencoded.png"/>
          <p:cNvPicPr>
            <a:picLocks noChangeAspect="1"/>
          </p:cNvPicPr>
          <p:nvPr/>
        </p:nvPicPr>
        <p:blipFill>
          <a:blip r:embed="rId4"/>
          <a:stretch>
            <a:fillRect/>
          </a:stretch>
        </p:blipFill>
        <p:spPr>
          <a:xfrm>
            <a:off x="3555187" y="2412187"/>
            <a:ext cx="570586" cy="570586"/>
          </a:xfrm>
          <a:prstGeom prst="rect">
            <a:avLst/>
          </a:prstGeom>
        </p:spPr>
      </p:pic>
      <p:sp>
        <p:nvSpPr>
          <p:cNvPr id="10" name="Chain label 2"/>
          <p:cNvSpPr txBox="1"/>
          <p:nvPr/>
        </p:nvSpPr>
        <p:spPr>
          <a:xfrm>
            <a:off x="2880360" y="3429000"/>
            <a:ext cx="1920240" cy="548640"/>
          </a:xfrm>
          <a:prstGeom prst="rect">
            <a:avLst/>
          </a:prstGeom>
          <a:noFill/>
          <a:ln/>
        </p:spPr>
        <p:txBody>
          <a:bodyPr wrap="square" lIns="0" tIns="0" rIns="0" bIns="0" rtlCol="0" anchor="ctr"/>
          <a:lstStyle/>
          <a:p>
            <a:pPr marL="0" indent="0" algn="ctr">
              <a:buNone/>
            </a:pPr>
            <a:r>
              <a:rPr lang="en-US" sz="1600" b="1" dirty="0">
                <a:solidFill>
                  <a:schemeClr val="tx1"/>
                </a:solidFill>
              </a:rPr>
              <a:t>Gas line ruptures</a:t>
            </a:r>
            <a:endParaRPr lang="en-US" sz="1600" dirty="0"/>
          </a:p>
        </p:txBody>
      </p:sp>
      <p:sp>
        <p:nvSpPr>
          <p:cNvPr id="11" name="Arrow 2"/>
          <p:cNvSpPr txBox="1"/>
          <p:nvPr/>
        </p:nvSpPr>
        <p:spPr>
          <a:xfrm>
            <a:off x="4480560" y="2331720"/>
            <a:ext cx="548640" cy="731520"/>
          </a:xfrm>
          <a:prstGeom prst="rect">
            <a:avLst/>
          </a:prstGeom>
          <a:noFill/>
          <a:ln/>
        </p:spPr>
        <p:txBody>
          <a:bodyPr wrap="square" lIns="0" tIns="0" rIns="0" bIns="0" rtlCol="0" anchor="ctr"/>
          <a:lstStyle/>
          <a:p>
            <a:pPr marL="0" indent="0" algn="ctr">
              <a:buNone/>
            </a:pPr>
            <a:r>
              <a:rPr lang="en-US" sz="3200" b="1" dirty="0">
                <a:solidFill>
                  <a:schemeClr val="tx1"/>
                </a:solidFill>
              </a:rPr>
              <a:t>→</a:t>
            </a:r>
            <a:endParaRPr lang="en-US" sz="3200" dirty="0"/>
          </a:p>
        </p:txBody>
      </p:sp>
      <p:sp>
        <p:nvSpPr>
          <p:cNvPr id="12" name="Chain 3 circle"/>
          <p:cNvSpPr/>
          <p:nvPr/>
        </p:nvSpPr>
        <p:spPr>
          <a:xfrm>
            <a:off x="5486400" y="2103120"/>
            <a:ext cx="1188720" cy="1188720"/>
          </a:xfrm>
          <a:prstGeom prst="ellipse">
            <a:avLst/>
          </a:prstGeom>
          <a:solidFill>
            <a:schemeClr val="accent5"/>
          </a:solidFill>
          <a:ln w="12700">
            <a:solidFill>
              <a:schemeClr val="accent5"/>
            </a:solidFill>
            <a:prstDash val="solid"/>
          </a:ln>
        </p:spPr>
        <p:txBody>
          <a:bodyPr/>
          <a:lstStyle/>
          <a:p>
            <a:endParaRPr lang="en-ZA"/>
          </a:p>
        </p:txBody>
      </p:sp>
      <p:pic>
        <p:nvPicPr>
          <p:cNvPr id="13" name="Chain 3 icon" descr="preencoded.png"/>
          <p:cNvPicPr>
            <a:picLocks noChangeAspect="1"/>
          </p:cNvPicPr>
          <p:nvPr/>
        </p:nvPicPr>
        <p:blipFill>
          <a:blip r:embed="rId5"/>
          <a:stretch>
            <a:fillRect/>
          </a:stretch>
        </p:blipFill>
        <p:spPr>
          <a:xfrm>
            <a:off x="5795467" y="2412187"/>
            <a:ext cx="570586" cy="570586"/>
          </a:xfrm>
          <a:prstGeom prst="rect">
            <a:avLst/>
          </a:prstGeom>
        </p:spPr>
      </p:pic>
      <p:sp>
        <p:nvSpPr>
          <p:cNvPr id="14" name="Chain label 3"/>
          <p:cNvSpPr txBox="1"/>
          <p:nvPr/>
        </p:nvSpPr>
        <p:spPr>
          <a:xfrm>
            <a:off x="5120640" y="3429000"/>
            <a:ext cx="1920240" cy="548640"/>
          </a:xfrm>
          <a:prstGeom prst="rect">
            <a:avLst/>
          </a:prstGeom>
          <a:noFill/>
          <a:ln/>
        </p:spPr>
        <p:txBody>
          <a:bodyPr wrap="square" lIns="0" tIns="0" rIns="0" bIns="0" rtlCol="0" anchor="ctr"/>
          <a:lstStyle/>
          <a:p>
            <a:pPr marL="0" indent="0" algn="ctr">
              <a:buNone/>
            </a:pPr>
            <a:r>
              <a:rPr lang="en-US" sz="1600" b="1" dirty="0">
                <a:solidFill>
                  <a:schemeClr val="tx1"/>
                </a:solidFill>
              </a:rPr>
              <a:t>Water mains burst</a:t>
            </a:r>
            <a:endParaRPr lang="en-US" sz="1600" dirty="0"/>
          </a:p>
        </p:txBody>
      </p:sp>
      <p:sp>
        <p:nvSpPr>
          <p:cNvPr id="15" name="Arrow 3"/>
          <p:cNvSpPr txBox="1"/>
          <p:nvPr/>
        </p:nvSpPr>
        <p:spPr>
          <a:xfrm>
            <a:off x="6720840" y="2331720"/>
            <a:ext cx="548640" cy="731520"/>
          </a:xfrm>
          <a:prstGeom prst="rect">
            <a:avLst/>
          </a:prstGeom>
          <a:noFill/>
          <a:ln/>
        </p:spPr>
        <p:txBody>
          <a:bodyPr wrap="square" lIns="0" tIns="0" rIns="0" bIns="0" rtlCol="0" anchor="ctr"/>
          <a:lstStyle/>
          <a:p>
            <a:pPr marL="0" indent="0" algn="ctr">
              <a:buNone/>
            </a:pPr>
            <a:r>
              <a:rPr lang="en-US" sz="3200" b="1" dirty="0">
                <a:solidFill>
                  <a:schemeClr val="tx1"/>
                </a:solidFill>
              </a:rPr>
              <a:t>→</a:t>
            </a:r>
            <a:endParaRPr lang="en-US" sz="3200" dirty="0"/>
          </a:p>
        </p:txBody>
      </p:sp>
      <p:sp>
        <p:nvSpPr>
          <p:cNvPr id="16" name="Chain 4 circle"/>
          <p:cNvSpPr/>
          <p:nvPr/>
        </p:nvSpPr>
        <p:spPr>
          <a:xfrm>
            <a:off x="7726680" y="2103120"/>
            <a:ext cx="1188720" cy="1188720"/>
          </a:xfrm>
          <a:prstGeom prst="ellipse">
            <a:avLst/>
          </a:prstGeom>
          <a:solidFill>
            <a:schemeClr val="tx1"/>
          </a:solidFill>
          <a:ln w="12700">
            <a:solidFill>
              <a:schemeClr val="tx1"/>
            </a:solidFill>
            <a:prstDash val="solid"/>
          </a:ln>
        </p:spPr>
        <p:txBody>
          <a:bodyPr/>
          <a:lstStyle/>
          <a:p>
            <a:endParaRPr lang="en-ZA"/>
          </a:p>
        </p:txBody>
      </p:sp>
      <p:pic>
        <p:nvPicPr>
          <p:cNvPr id="17" name="Chain 4 icon" descr="preencoded.png"/>
          <p:cNvPicPr>
            <a:picLocks noChangeAspect="1"/>
          </p:cNvPicPr>
          <p:nvPr/>
        </p:nvPicPr>
        <p:blipFill>
          <a:blip r:embed="rId6"/>
          <a:stretch>
            <a:fillRect/>
          </a:stretch>
        </p:blipFill>
        <p:spPr>
          <a:xfrm>
            <a:off x="8035747" y="2412187"/>
            <a:ext cx="570586" cy="570586"/>
          </a:xfrm>
          <a:prstGeom prst="rect">
            <a:avLst/>
          </a:prstGeom>
        </p:spPr>
      </p:pic>
      <p:sp>
        <p:nvSpPr>
          <p:cNvPr id="18" name="Chain label 4"/>
          <p:cNvSpPr txBox="1"/>
          <p:nvPr/>
        </p:nvSpPr>
        <p:spPr>
          <a:xfrm>
            <a:off x="7360920" y="3429000"/>
            <a:ext cx="1920240" cy="548640"/>
          </a:xfrm>
          <a:prstGeom prst="rect">
            <a:avLst/>
          </a:prstGeom>
          <a:noFill/>
          <a:ln/>
        </p:spPr>
        <p:txBody>
          <a:bodyPr wrap="square" lIns="0" tIns="0" rIns="0" bIns="0" rtlCol="0" anchor="ctr"/>
          <a:lstStyle/>
          <a:p>
            <a:pPr marL="0" indent="0" algn="ctr">
              <a:buNone/>
            </a:pPr>
            <a:r>
              <a:rPr lang="en-US" sz="1600" b="1" dirty="0">
                <a:solidFill>
                  <a:schemeClr val="tx1"/>
                </a:solidFill>
              </a:rPr>
              <a:t>Roads collapse</a:t>
            </a:r>
            <a:endParaRPr lang="en-US" sz="1600" dirty="0"/>
          </a:p>
        </p:txBody>
      </p:sp>
      <p:sp>
        <p:nvSpPr>
          <p:cNvPr id="19" name="Arrow 4"/>
          <p:cNvSpPr txBox="1"/>
          <p:nvPr/>
        </p:nvSpPr>
        <p:spPr>
          <a:xfrm>
            <a:off x="8961120" y="2331720"/>
            <a:ext cx="548640" cy="731520"/>
          </a:xfrm>
          <a:prstGeom prst="rect">
            <a:avLst/>
          </a:prstGeom>
          <a:noFill/>
          <a:ln/>
        </p:spPr>
        <p:txBody>
          <a:bodyPr wrap="square" lIns="0" tIns="0" rIns="0" bIns="0" rtlCol="0" anchor="ctr"/>
          <a:lstStyle/>
          <a:p>
            <a:pPr marL="0" indent="0" algn="ctr">
              <a:buNone/>
            </a:pPr>
            <a:r>
              <a:rPr lang="en-US" sz="3200" b="1" dirty="0">
                <a:solidFill>
                  <a:schemeClr val="tx1"/>
                </a:solidFill>
              </a:rPr>
              <a:t>→</a:t>
            </a:r>
            <a:endParaRPr lang="en-US" sz="3200" dirty="0"/>
          </a:p>
        </p:txBody>
      </p:sp>
      <p:sp>
        <p:nvSpPr>
          <p:cNvPr id="20" name="Chain 5 circle"/>
          <p:cNvSpPr/>
          <p:nvPr/>
        </p:nvSpPr>
        <p:spPr>
          <a:xfrm>
            <a:off x="9966960" y="2103120"/>
            <a:ext cx="1188720" cy="1188720"/>
          </a:xfrm>
          <a:prstGeom prst="ellipse">
            <a:avLst/>
          </a:prstGeom>
          <a:solidFill>
            <a:schemeClr val="accent1"/>
          </a:solidFill>
          <a:ln w="12700">
            <a:solidFill>
              <a:schemeClr val="accent1"/>
            </a:solidFill>
            <a:prstDash val="solid"/>
          </a:ln>
        </p:spPr>
        <p:txBody>
          <a:bodyPr/>
          <a:lstStyle/>
          <a:p>
            <a:endParaRPr lang="en-ZA"/>
          </a:p>
        </p:txBody>
      </p:sp>
      <p:pic>
        <p:nvPicPr>
          <p:cNvPr id="21" name="Chain 5 icon" descr="preencoded.png"/>
          <p:cNvPicPr>
            <a:picLocks noChangeAspect="1"/>
          </p:cNvPicPr>
          <p:nvPr/>
        </p:nvPicPr>
        <p:blipFill>
          <a:blip r:embed="rId7"/>
          <a:stretch>
            <a:fillRect/>
          </a:stretch>
        </p:blipFill>
        <p:spPr>
          <a:xfrm>
            <a:off x="10276027" y="2412187"/>
            <a:ext cx="570586" cy="570586"/>
          </a:xfrm>
          <a:prstGeom prst="rect">
            <a:avLst/>
          </a:prstGeom>
        </p:spPr>
      </p:pic>
      <p:sp>
        <p:nvSpPr>
          <p:cNvPr id="22" name="Chain label 5"/>
          <p:cNvSpPr txBox="1"/>
          <p:nvPr/>
        </p:nvSpPr>
        <p:spPr>
          <a:xfrm>
            <a:off x="9601200" y="3429000"/>
            <a:ext cx="1920240" cy="548640"/>
          </a:xfrm>
          <a:prstGeom prst="rect">
            <a:avLst/>
          </a:prstGeom>
          <a:noFill/>
          <a:ln/>
        </p:spPr>
        <p:txBody>
          <a:bodyPr wrap="square" lIns="0" tIns="0" rIns="0" bIns="0" rtlCol="0" anchor="ctr"/>
          <a:lstStyle/>
          <a:p>
            <a:pPr marL="0" indent="0" algn="ctr">
              <a:buNone/>
            </a:pPr>
            <a:r>
              <a:rPr lang="en-US" sz="1600" b="1" dirty="0">
                <a:solidFill>
                  <a:schemeClr val="tx1"/>
                </a:solidFill>
              </a:rPr>
              <a:t>Hospitals overwhelmed</a:t>
            </a:r>
            <a:endParaRPr lang="en-US" sz="1600" dirty="0"/>
          </a:p>
        </p:txBody>
      </p:sp>
      <p:sp>
        <p:nvSpPr>
          <p:cNvPr id="23" name="Problem stat frame"/>
          <p:cNvSpPr/>
          <p:nvPr/>
        </p:nvSpPr>
        <p:spPr>
          <a:xfrm>
            <a:off x="445273" y="4389119"/>
            <a:ext cx="11167607" cy="1908313"/>
          </a:xfrm>
          <a:prstGeom prst="rect">
            <a:avLst/>
          </a:prstGeom>
          <a:solidFill>
            <a:schemeClr val="bg1"/>
          </a:solidFill>
          <a:ln w="19050">
            <a:solidFill>
              <a:schemeClr val="accent1"/>
            </a:solidFill>
            <a:prstDash val="dash"/>
          </a:ln>
        </p:spPr>
        <p:txBody>
          <a:bodyPr/>
          <a:lstStyle/>
          <a:p>
            <a:endParaRPr lang="en-ZA"/>
          </a:p>
        </p:txBody>
      </p:sp>
      <p:sp>
        <p:nvSpPr>
          <p:cNvPr id="24" name="Problem stat label"/>
          <p:cNvSpPr txBox="1"/>
          <p:nvPr/>
        </p:nvSpPr>
        <p:spPr>
          <a:xfrm>
            <a:off x="731520" y="4526279"/>
            <a:ext cx="10698480" cy="1554480"/>
          </a:xfrm>
          <a:prstGeom prst="rect">
            <a:avLst/>
          </a:prstGeom>
          <a:noFill/>
          <a:ln/>
        </p:spPr>
        <p:txBody>
          <a:bodyPr wrap="square" lIns="0" tIns="0" rIns="0" bIns="0" rtlCol="0" anchor="ctr"/>
          <a:lstStyle/>
          <a:p>
            <a:pPr algn="ctr"/>
            <a:r>
              <a:rPr lang="en-US" sz="2000" b="1" dirty="0"/>
              <a:t>When an earthquake strikes, the shaking is only the start. Gas lines rupture, water mains burst, floods follow, roads collapse, and hospitals are overwhelmed, all at the same time. But emergency software tracks each of these in its own silo. Commanders have to piece together seismic feeds, utility status, road conditions and hospital capacity by hand, under extreme time pressure. Every minute spent reconciling data is a minute not spent saving lives.</a:t>
            </a:r>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Who it helps</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four real roles decide faster from one view, and evacuating citizens get safer routes.</a:t>
            </a:r>
            <a:endParaRPr lang="en-US" sz="1800" dirty="0"/>
          </a:p>
        </p:txBody>
      </p:sp>
      <p:sp>
        <p:nvSpPr>
          <p:cNvPr id="4" name="Persona card 1"/>
          <p:cNvSpPr/>
          <p:nvPr/>
        </p:nvSpPr>
        <p:spPr>
          <a:xfrm>
            <a:off x="548640" y="1920240"/>
            <a:ext cx="2606040" cy="393192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5" name="Persona 1 circle"/>
          <p:cNvSpPr/>
          <p:nvPr/>
        </p:nvSpPr>
        <p:spPr>
          <a:xfrm>
            <a:off x="1371600" y="2194560"/>
            <a:ext cx="960120" cy="960120"/>
          </a:xfrm>
          <a:prstGeom prst="ellipse">
            <a:avLst/>
          </a:prstGeom>
          <a:solidFill>
            <a:schemeClr val="accent1"/>
          </a:solidFill>
          <a:ln w="12700">
            <a:solidFill>
              <a:schemeClr val="accent1"/>
            </a:solidFill>
            <a:prstDash val="solid"/>
          </a:ln>
        </p:spPr>
        <p:txBody>
          <a:bodyPr/>
          <a:lstStyle/>
          <a:p>
            <a:endParaRPr lang="en-ZA"/>
          </a:p>
        </p:txBody>
      </p:sp>
      <p:pic>
        <p:nvPicPr>
          <p:cNvPr id="6" name="Persona 1 icon" descr="preencoded.png"/>
          <p:cNvPicPr>
            <a:picLocks noChangeAspect="1"/>
          </p:cNvPicPr>
          <p:nvPr/>
        </p:nvPicPr>
        <p:blipFill>
          <a:blip r:embed="rId3"/>
          <a:stretch>
            <a:fillRect/>
          </a:stretch>
        </p:blipFill>
        <p:spPr>
          <a:xfrm>
            <a:off x="1621231" y="2444191"/>
            <a:ext cx="460858" cy="460858"/>
          </a:xfrm>
          <a:prstGeom prst="rect">
            <a:avLst/>
          </a:prstGeom>
        </p:spPr>
      </p:pic>
      <p:sp>
        <p:nvSpPr>
          <p:cNvPr id="7" name="Persona name 1"/>
          <p:cNvSpPr txBox="1"/>
          <p:nvPr/>
        </p:nvSpPr>
        <p:spPr>
          <a:xfrm>
            <a:off x="731520" y="3383280"/>
            <a:ext cx="2240280" cy="73152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Emergency commanders</a:t>
            </a:r>
            <a:endParaRPr lang="en-US" sz="2000" dirty="0"/>
          </a:p>
        </p:txBody>
      </p:sp>
      <p:sp>
        <p:nvSpPr>
          <p:cNvPr id="8" name="Persona decision 1"/>
          <p:cNvSpPr txBox="1"/>
          <p:nvPr/>
        </p:nvSpPr>
        <p:spPr>
          <a:xfrm>
            <a:off x="777240" y="4206240"/>
            <a:ext cx="2148840" cy="1371600"/>
          </a:xfrm>
          <a:prstGeom prst="rect">
            <a:avLst/>
          </a:prstGeom>
          <a:noFill/>
          <a:ln/>
        </p:spPr>
        <p:txBody>
          <a:bodyPr wrap="square" lIns="0" tIns="0" rIns="0" bIns="0" rtlCol="0" anchor="ctr"/>
          <a:lstStyle/>
          <a:p>
            <a:pPr marL="0" indent="0">
              <a:buNone/>
            </a:pPr>
            <a:r>
              <a:rPr lang="en-US" sz="1400" dirty="0">
                <a:solidFill>
                  <a:schemeClr val="tx1"/>
                </a:solidFill>
              </a:rPr>
              <a:t>Approve utility isolation, evacuation, deployment</a:t>
            </a:r>
            <a:endParaRPr lang="en-US" sz="1400" dirty="0"/>
          </a:p>
        </p:txBody>
      </p:sp>
      <p:sp>
        <p:nvSpPr>
          <p:cNvPr id="9" name="Persona card 2"/>
          <p:cNvSpPr/>
          <p:nvPr/>
        </p:nvSpPr>
        <p:spPr>
          <a:xfrm>
            <a:off x="3383280" y="1920240"/>
            <a:ext cx="2606040" cy="393192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0" name="Persona 2 circle"/>
          <p:cNvSpPr/>
          <p:nvPr/>
        </p:nvSpPr>
        <p:spPr>
          <a:xfrm>
            <a:off x="4206240" y="2194560"/>
            <a:ext cx="960120" cy="960120"/>
          </a:xfrm>
          <a:prstGeom prst="ellipse">
            <a:avLst/>
          </a:prstGeom>
          <a:solidFill>
            <a:schemeClr val="accent1"/>
          </a:solidFill>
          <a:ln w="12700">
            <a:solidFill>
              <a:schemeClr val="accent1"/>
            </a:solidFill>
            <a:prstDash val="solid"/>
          </a:ln>
        </p:spPr>
        <p:txBody>
          <a:bodyPr/>
          <a:lstStyle/>
          <a:p>
            <a:endParaRPr lang="en-ZA"/>
          </a:p>
        </p:txBody>
      </p:sp>
      <p:pic>
        <p:nvPicPr>
          <p:cNvPr id="11" name="Persona 2 icon" descr="preencoded.png"/>
          <p:cNvPicPr>
            <a:picLocks noChangeAspect="1"/>
          </p:cNvPicPr>
          <p:nvPr/>
        </p:nvPicPr>
        <p:blipFill>
          <a:blip r:embed="rId4"/>
          <a:stretch>
            <a:fillRect/>
          </a:stretch>
        </p:blipFill>
        <p:spPr>
          <a:xfrm>
            <a:off x="4455871" y="2444191"/>
            <a:ext cx="460858" cy="460858"/>
          </a:xfrm>
          <a:prstGeom prst="rect">
            <a:avLst/>
          </a:prstGeom>
        </p:spPr>
      </p:pic>
      <p:sp>
        <p:nvSpPr>
          <p:cNvPr id="12" name="Persona name 2"/>
          <p:cNvSpPr txBox="1"/>
          <p:nvPr/>
        </p:nvSpPr>
        <p:spPr>
          <a:xfrm>
            <a:off x="3566160" y="3383280"/>
            <a:ext cx="2240280" cy="73152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Dispatchers</a:t>
            </a:r>
            <a:endParaRPr lang="en-US" sz="2000" dirty="0"/>
          </a:p>
        </p:txBody>
      </p:sp>
      <p:sp>
        <p:nvSpPr>
          <p:cNvPr id="13" name="Persona decision 2"/>
          <p:cNvSpPr txBox="1"/>
          <p:nvPr/>
        </p:nvSpPr>
        <p:spPr>
          <a:xfrm>
            <a:off x="3611880" y="4206240"/>
            <a:ext cx="2148840" cy="1371600"/>
          </a:xfrm>
          <a:prstGeom prst="rect">
            <a:avLst/>
          </a:prstGeom>
          <a:noFill/>
          <a:ln/>
        </p:spPr>
        <p:txBody>
          <a:bodyPr wrap="square" lIns="0" tIns="0" rIns="0" bIns="0" rtlCol="0" anchor="ctr"/>
          <a:lstStyle/>
          <a:p>
            <a:pPr marL="0" indent="0">
              <a:buNone/>
            </a:pPr>
            <a:r>
              <a:rPr lang="en-US" sz="1400" dirty="0">
                <a:solidFill>
                  <a:schemeClr val="tx1"/>
                </a:solidFill>
              </a:rPr>
              <a:t>Assign ambulances to safe routes and open hospitals</a:t>
            </a:r>
            <a:endParaRPr lang="en-US" sz="1400" dirty="0"/>
          </a:p>
        </p:txBody>
      </p:sp>
      <p:sp>
        <p:nvSpPr>
          <p:cNvPr id="14" name="Persona card 3"/>
          <p:cNvSpPr/>
          <p:nvPr/>
        </p:nvSpPr>
        <p:spPr>
          <a:xfrm>
            <a:off x="6217920" y="1920240"/>
            <a:ext cx="2606040" cy="393192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5" name="Persona 3 circle"/>
          <p:cNvSpPr/>
          <p:nvPr/>
        </p:nvSpPr>
        <p:spPr>
          <a:xfrm>
            <a:off x="7040880" y="2194560"/>
            <a:ext cx="960120" cy="960120"/>
          </a:xfrm>
          <a:prstGeom prst="ellipse">
            <a:avLst/>
          </a:prstGeom>
          <a:solidFill>
            <a:schemeClr val="accent1"/>
          </a:solidFill>
          <a:ln w="12700">
            <a:solidFill>
              <a:schemeClr val="accent1"/>
            </a:solidFill>
            <a:prstDash val="solid"/>
          </a:ln>
        </p:spPr>
        <p:txBody>
          <a:bodyPr/>
          <a:lstStyle/>
          <a:p>
            <a:endParaRPr lang="en-ZA"/>
          </a:p>
        </p:txBody>
      </p:sp>
      <p:pic>
        <p:nvPicPr>
          <p:cNvPr id="16" name="Persona 3 icon" descr="preencoded.png"/>
          <p:cNvPicPr>
            <a:picLocks noChangeAspect="1"/>
          </p:cNvPicPr>
          <p:nvPr/>
        </p:nvPicPr>
        <p:blipFill>
          <a:blip r:embed="rId5"/>
          <a:stretch>
            <a:fillRect/>
          </a:stretch>
        </p:blipFill>
        <p:spPr>
          <a:xfrm>
            <a:off x="7290511" y="2444191"/>
            <a:ext cx="460858" cy="460858"/>
          </a:xfrm>
          <a:prstGeom prst="rect">
            <a:avLst/>
          </a:prstGeom>
        </p:spPr>
      </p:pic>
      <p:sp>
        <p:nvSpPr>
          <p:cNvPr id="17" name="Persona name 3"/>
          <p:cNvSpPr txBox="1"/>
          <p:nvPr/>
        </p:nvSpPr>
        <p:spPr>
          <a:xfrm>
            <a:off x="6400800" y="3383280"/>
            <a:ext cx="2240280" cy="73152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Field medics</a:t>
            </a:r>
            <a:endParaRPr lang="en-US" sz="2000" dirty="0"/>
          </a:p>
        </p:txBody>
      </p:sp>
      <p:sp>
        <p:nvSpPr>
          <p:cNvPr id="18" name="Persona decision 3"/>
          <p:cNvSpPr txBox="1"/>
          <p:nvPr/>
        </p:nvSpPr>
        <p:spPr>
          <a:xfrm>
            <a:off x="6446520" y="4206240"/>
            <a:ext cx="2148840" cy="1371600"/>
          </a:xfrm>
          <a:prstGeom prst="rect">
            <a:avLst/>
          </a:prstGeom>
          <a:noFill/>
          <a:ln/>
        </p:spPr>
        <p:txBody>
          <a:bodyPr wrap="square" lIns="0" tIns="0" rIns="0" bIns="0" rtlCol="0" anchor="ctr"/>
          <a:lstStyle/>
          <a:p>
            <a:pPr marL="0" indent="0">
              <a:buNone/>
            </a:pPr>
            <a:r>
              <a:rPr lang="en-US" sz="1400" dirty="0">
                <a:solidFill>
                  <a:schemeClr val="tx1"/>
                </a:solidFill>
              </a:rPr>
              <a:t>Get compact SMS/CSV actions when networks fail</a:t>
            </a:r>
            <a:endParaRPr lang="en-US" sz="1400" dirty="0"/>
          </a:p>
        </p:txBody>
      </p:sp>
      <p:sp>
        <p:nvSpPr>
          <p:cNvPr id="19" name="Persona card 4"/>
          <p:cNvSpPr/>
          <p:nvPr/>
        </p:nvSpPr>
        <p:spPr>
          <a:xfrm>
            <a:off x="9052560" y="1920240"/>
            <a:ext cx="2606040" cy="393192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20" name="Persona 4 circle"/>
          <p:cNvSpPr/>
          <p:nvPr/>
        </p:nvSpPr>
        <p:spPr>
          <a:xfrm>
            <a:off x="9875520" y="2194560"/>
            <a:ext cx="960120" cy="960120"/>
          </a:xfrm>
          <a:prstGeom prst="ellipse">
            <a:avLst/>
          </a:prstGeom>
          <a:solidFill>
            <a:schemeClr val="accent1"/>
          </a:solidFill>
          <a:ln w="12700">
            <a:solidFill>
              <a:schemeClr val="accent1"/>
            </a:solidFill>
            <a:prstDash val="solid"/>
          </a:ln>
        </p:spPr>
        <p:txBody>
          <a:bodyPr/>
          <a:lstStyle/>
          <a:p>
            <a:endParaRPr lang="en-ZA"/>
          </a:p>
        </p:txBody>
      </p:sp>
      <p:pic>
        <p:nvPicPr>
          <p:cNvPr id="21" name="Persona 4 icon" descr="preencoded.png"/>
          <p:cNvPicPr>
            <a:picLocks noChangeAspect="1"/>
          </p:cNvPicPr>
          <p:nvPr/>
        </p:nvPicPr>
        <p:blipFill>
          <a:blip r:embed="rId6"/>
          <a:stretch>
            <a:fillRect/>
          </a:stretch>
        </p:blipFill>
        <p:spPr>
          <a:xfrm>
            <a:off x="10125151" y="2444191"/>
            <a:ext cx="460858" cy="460858"/>
          </a:xfrm>
          <a:prstGeom prst="rect">
            <a:avLst/>
          </a:prstGeom>
        </p:spPr>
      </p:pic>
      <p:sp>
        <p:nvSpPr>
          <p:cNvPr id="22" name="Persona name 4"/>
          <p:cNvSpPr txBox="1"/>
          <p:nvPr/>
        </p:nvSpPr>
        <p:spPr>
          <a:xfrm>
            <a:off x="9235440" y="3383280"/>
            <a:ext cx="2240280" cy="73152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Utility operators</a:t>
            </a:r>
            <a:endParaRPr lang="en-US" sz="2000" dirty="0"/>
          </a:p>
        </p:txBody>
      </p:sp>
      <p:sp>
        <p:nvSpPr>
          <p:cNvPr id="23" name="Persona decision 4"/>
          <p:cNvSpPr txBox="1"/>
          <p:nvPr/>
        </p:nvSpPr>
        <p:spPr>
          <a:xfrm>
            <a:off x="9281160" y="4206240"/>
            <a:ext cx="2148840" cy="1371600"/>
          </a:xfrm>
          <a:prstGeom prst="rect">
            <a:avLst/>
          </a:prstGeom>
          <a:noFill/>
          <a:ln/>
        </p:spPr>
        <p:txBody>
          <a:bodyPr wrap="square" lIns="0" tIns="0" rIns="0" bIns="0" rtlCol="0" anchor="ctr"/>
          <a:lstStyle/>
          <a:p>
            <a:pPr marL="0" indent="0">
              <a:buNone/>
            </a:pPr>
            <a:r>
              <a:rPr lang="en-US" sz="1400" dirty="0">
                <a:solidFill>
                  <a:schemeClr val="tx1"/>
                </a:solidFill>
              </a:rPr>
              <a:t>Early warning to isolate gas and water sectors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The data behind it</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real public feeds plus clearly labelled simulated utility data.</a:t>
            </a:r>
            <a:endParaRPr lang="en-US" sz="1800" dirty="0"/>
          </a:p>
        </p:txBody>
      </p:sp>
      <p:sp>
        <p:nvSpPr>
          <p:cNvPr id="4" name="Data card 1"/>
          <p:cNvSpPr/>
          <p:nvPr/>
        </p:nvSpPr>
        <p:spPr>
          <a:xfrm>
            <a:off x="548640" y="1874520"/>
            <a:ext cx="3703320" cy="178308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5" name="Data 1 circle"/>
          <p:cNvSpPr/>
          <p:nvPr/>
        </p:nvSpPr>
        <p:spPr>
          <a:xfrm>
            <a:off x="777240" y="2331720"/>
            <a:ext cx="868680" cy="868680"/>
          </a:xfrm>
          <a:prstGeom prst="ellipse">
            <a:avLst/>
          </a:prstGeom>
          <a:solidFill>
            <a:schemeClr val="tx1"/>
          </a:solidFill>
          <a:ln w="12700">
            <a:solidFill>
              <a:schemeClr val="tx1"/>
            </a:solidFill>
            <a:prstDash val="solid"/>
          </a:ln>
        </p:spPr>
        <p:txBody>
          <a:bodyPr/>
          <a:lstStyle/>
          <a:p>
            <a:endParaRPr lang="en-ZA"/>
          </a:p>
        </p:txBody>
      </p:sp>
      <p:pic>
        <p:nvPicPr>
          <p:cNvPr id="6" name="Data 1 icon" descr="preencoded.png"/>
          <p:cNvPicPr>
            <a:picLocks noChangeAspect="1"/>
          </p:cNvPicPr>
          <p:nvPr/>
        </p:nvPicPr>
        <p:blipFill>
          <a:blip r:embed="rId3"/>
          <a:stretch>
            <a:fillRect/>
          </a:stretch>
        </p:blipFill>
        <p:spPr>
          <a:xfrm>
            <a:off x="1003097" y="2557577"/>
            <a:ext cx="416966" cy="416966"/>
          </a:xfrm>
          <a:prstGeom prst="rect">
            <a:avLst/>
          </a:prstGeom>
        </p:spPr>
      </p:pic>
      <p:sp>
        <p:nvSpPr>
          <p:cNvPr id="7" name="Data name 1"/>
          <p:cNvSpPr txBox="1"/>
          <p:nvPr/>
        </p:nvSpPr>
        <p:spPr>
          <a:xfrm>
            <a:off x="1828800" y="2194560"/>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USGS seismic feed</a:t>
            </a:r>
            <a:endParaRPr lang="en-US" sz="1800" dirty="0"/>
          </a:p>
        </p:txBody>
      </p:sp>
      <p:sp>
        <p:nvSpPr>
          <p:cNvPr id="8" name="Data use 1"/>
          <p:cNvSpPr txBox="1"/>
          <p:nvPr/>
        </p:nvSpPr>
        <p:spPr>
          <a:xfrm>
            <a:off x="1828800" y="2697480"/>
            <a:ext cx="2286000" cy="731520"/>
          </a:xfrm>
          <a:prstGeom prst="rect">
            <a:avLst/>
          </a:prstGeom>
          <a:noFill/>
          <a:ln/>
        </p:spPr>
        <p:txBody>
          <a:bodyPr wrap="square" lIns="0" tIns="0" rIns="0" bIns="0" rtlCol="0" anchor="ctr"/>
          <a:lstStyle/>
          <a:p>
            <a:pPr marL="0" indent="0">
              <a:buNone/>
            </a:pPr>
            <a:r>
              <a:rPr lang="en-US" sz="1400" dirty="0">
                <a:solidFill>
                  <a:schemeClr val="tx1"/>
                </a:solidFill>
              </a:rPr>
              <a:t>Live magnitude, depth, location</a:t>
            </a:r>
            <a:endParaRPr lang="en-US" sz="1400" dirty="0"/>
          </a:p>
        </p:txBody>
      </p:sp>
      <p:sp>
        <p:nvSpPr>
          <p:cNvPr id="9" name="Data card 2"/>
          <p:cNvSpPr/>
          <p:nvPr/>
        </p:nvSpPr>
        <p:spPr>
          <a:xfrm>
            <a:off x="4480560" y="1874520"/>
            <a:ext cx="3703320" cy="178308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0" name="Data 2 circle"/>
          <p:cNvSpPr/>
          <p:nvPr/>
        </p:nvSpPr>
        <p:spPr>
          <a:xfrm>
            <a:off x="4709160" y="2331720"/>
            <a:ext cx="868680" cy="868680"/>
          </a:xfrm>
          <a:prstGeom prst="ellipse">
            <a:avLst/>
          </a:prstGeom>
          <a:solidFill>
            <a:schemeClr val="tx1"/>
          </a:solidFill>
          <a:ln w="12700">
            <a:solidFill>
              <a:schemeClr val="tx1"/>
            </a:solidFill>
            <a:prstDash val="solid"/>
          </a:ln>
        </p:spPr>
        <p:txBody>
          <a:bodyPr/>
          <a:lstStyle/>
          <a:p>
            <a:endParaRPr lang="en-ZA"/>
          </a:p>
        </p:txBody>
      </p:sp>
      <p:pic>
        <p:nvPicPr>
          <p:cNvPr id="11" name="Data 2 icon" descr="preencoded.png"/>
          <p:cNvPicPr>
            <a:picLocks noChangeAspect="1"/>
          </p:cNvPicPr>
          <p:nvPr/>
        </p:nvPicPr>
        <p:blipFill>
          <a:blip r:embed="rId4"/>
          <a:stretch>
            <a:fillRect/>
          </a:stretch>
        </p:blipFill>
        <p:spPr>
          <a:xfrm>
            <a:off x="4935017" y="2557577"/>
            <a:ext cx="416966" cy="416966"/>
          </a:xfrm>
          <a:prstGeom prst="rect">
            <a:avLst/>
          </a:prstGeom>
        </p:spPr>
      </p:pic>
      <p:sp>
        <p:nvSpPr>
          <p:cNvPr id="12" name="Data name 2"/>
          <p:cNvSpPr txBox="1"/>
          <p:nvPr/>
        </p:nvSpPr>
        <p:spPr>
          <a:xfrm>
            <a:off x="5760720" y="2194560"/>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OSM + DataSF</a:t>
            </a:r>
            <a:endParaRPr lang="en-US" sz="1800" dirty="0"/>
          </a:p>
        </p:txBody>
      </p:sp>
      <p:sp>
        <p:nvSpPr>
          <p:cNvPr id="13" name="Data use 2"/>
          <p:cNvSpPr txBox="1"/>
          <p:nvPr/>
        </p:nvSpPr>
        <p:spPr>
          <a:xfrm>
            <a:off x="5760720" y="2697480"/>
            <a:ext cx="2286000" cy="731520"/>
          </a:xfrm>
          <a:prstGeom prst="rect">
            <a:avLst/>
          </a:prstGeom>
          <a:noFill/>
          <a:ln/>
        </p:spPr>
        <p:txBody>
          <a:bodyPr wrap="square" lIns="0" tIns="0" rIns="0" bIns="0" rtlCol="0" anchor="ctr"/>
          <a:lstStyle/>
          <a:p>
            <a:pPr marL="0" indent="0">
              <a:buNone/>
            </a:pPr>
            <a:r>
              <a:rPr lang="en-US" sz="1400" dirty="0">
                <a:solidFill>
                  <a:schemeClr val="tx1"/>
                </a:solidFill>
              </a:rPr>
              <a:t>Road network and city building footprints</a:t>
            </a:r>
            <a:endParaRPr lang="en-US" sz="1400" dirty="0"/>
          </a:p>
        </p:txBody>
      </p:sp>
      <p:sp>
        <p:nvSpPr>
          <p:cNvPr id="14" name="Data card 3"/>
          <p:cNvSpPr/>
          <p:nvPr/>
        </p:nvSpPr>
        <p:spPr>
          <a:xfrm>
            <a:off x="548640" y="3840480"/>
            <a:ext cx="3703320" cy="178308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5" name="Data 3 circle"/>
          <p:cNvSpPr/>
          <p:nvPr/>
        </p:nvSpPr>
        <p:spPr>
          <a:xfrm>
            <a:off x="777240" y="4297680"/>
            <a:ext cx="868680" cy="868680"/>
          </a:xfrm>
          <a:prstGeom prst="ellipse">
            <a:avLst/>
          </a:prstGeom>
          <a:solidFill>
            <a:schemeClr val="tx1"/>
          </a:solidFill>
          <a:ln w="12700">
            <a:solidFill>
              <a:schemeClr val="tx1"/>
            </a:solidFill>
            <a:prstDash val="solid"/>
          </a:ln>
        </p:spPr>
        <p:txBody>
          <a:bodyPr/>
          <a:lstStyle/>
          <a:p>
            <a:endParaRPr lang="en-ZA"/>
          </a:p>
        </p:txBody>
      </p:sp>
      <p:pic>
        <p:nvPicPr>
          <p:cNvPr id="16" name="Data 3 icon" descr="preencoded.png"/>
          <p:cNvPicPr>
            <a:picLocks noChangeAspect="1"/>
          </p:cNvPicPr>
          <p:nvPr/>
        </p:nvPicPr>
        <p:blipFill>
          <a:blip r:embed="rId5"/>
          <a:stretch>
            <a:fillRect/>
          </a:stretch>
        </p:blipFill>
        <p:spPr>
          <a:xfrm>
            <a:off x="1003097" y="4523537"/>
            <a:ext cx="416966" cy="416966"/>
          </a:xfrm>
          <a:prstGeom prst="rect">
            <a:avLst/>
          </a:prstGeom>
        </p:spPr>
      </p:pic>
      <p:sp>
        <p:nvSpPr>
          <p:cNvPr id="17" name="Data name 3"/>
          <p:cNvSpPr txBox="1"/>
          <p:nvPr/>
        </p:nvSpPr>
        <p:spPr>
          <a:xfrm>
            <a:off x="1828800" y="4160520"/>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Utility telemetry</a:t>
            </a:r>
            <a:endParaRPr lang="en-US" sz="1800" dirty="0"/>
          </a:p>
        </p:txBody>
      </p:sp>
      <p:sp>
        <p:nvSpPr>
          <p:cNvPr id="18" name="Data use 3"/>
          <p:cNvSpPr txBox="1"/>
          <p:nvPr/>
        </p:nvSpPr>
        <p:spPr>
          <a:xfrm>
            <a:off x="1828800" y="4663440"/>
            <a:ext cx="2286000" cy="731520"/>
          </a:xfrm>
          <a:prstGeom prst="rect">
            <a:avLst/>
          </a:prstGeom>
          <a:noFill/>
          <a:ln/>
        </p:spPr>
        <p:txBody>
          <a:bodyPr wrap="square" lIns="0" tIns="0" rIns="0" bIns="0" rtlCol="0" anchor="ctr"/>
          <a:lstStyle/>
          <a:p>
            <a:pPr marL="0" indent="0">
              <a:buNone/>
            </a:pPr>
            <a:r>
              <a:rPr lang="en-US" sz="1400" dirty="0">
                <a:solidFill>
                  <a:schemeClr val="tx1"/>
                </a:solidFill>
              </a:rPr>
              <a:t>Pressure drops, pipe age, elevation (simulated)</a:t>
            </a:r>
            <a:endParaRPr lang="en-US" sz="1400" dirty="0"/>
          </a:p>
        </p:txBody>
      </p:sp>
      <p:sp>
        <p:nvSpPr>
          <p:cNvPr id="19" name="Synthetic tag"/>
          <p:cNvSpPr txBox="1"/>
          <p:nvPr/>
        </p:nvSpPr>
        <p:spPr>
          <a:xfrm>
            <a:off x="2468880" y="3913632"/>
            <a:ext cx="1645920" cy="274320"/>
          </a:xfrm>
          <a:prstGeom prst="rect">
            <a:avLst/>
          </a:prstGeom>
          <a:solidFill>
            <a:schemeClr val="accent2"/>
          </a:solidFill>
          <a:ln/>
        </p:spPr>
        <p:txBody>
          <a:bodyPr wrap="square" lIns="0" tIns="0" rIns="0" bIns="0" rtlCol="0" anchor="ctr"/>
          <a:lstStyle/>
          <a:p>
            <a:pPr marL="0" indent="0" algn="ctr">
              <a:buNone/>
            </a:pPr>
            <a:r>
              <a:rPr lang="en-US" sz="1100" b="1" dirty="0">
                <a:solidFill>
                  <a:schemeClr val="bg1"/>
                </a:solidFill>
              </a:rPr>
              <a:t>SYNTHETIC</a:t>
            </a:r>
            <a:endParaRPr lang="en-US" sz="1100" dirty="0"/>
          </a:p>
        </p:txBody>
      </p:sp>
      <p:sp>
        <p:nvSpPr>
          <p:cNvPr id="20" name="Data card 4"/>
          <p:cNvSpPr/>
          <p:nvPr/>
        </p:nvSpPr>
        <p:spPr>
          <a:xfrm>
            <a:off x="4480560" y="3840480"/>
            <a:ext cx="3703320" cy="178308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21" name="Data 4 circle"/>
          <p:cNvSpPr/>
          <p:nvPr/>
        </p:nvSpPr>
        <p:spPr>
          <a:xfrm>
            <a:off x="4709160" y="4297680"/>
            <a:ext cx="868680" cy="868680"/>
          </a:xfrm>
          <a:prstGeom prst="ellipse">
            <a:avLst/>
          </a:prstGeom>
          <a:solidFill>
            <a:schemeClr val="tx1"/>
          </a:solidFill>
          <a:ln w="12700">
            <a:solidFill>
              <a:schemeClr val="tx1"/>
            </a:solidFill>
            <a:prstDash val="solid"/>
          </a:ln>
        </p:spPr>
        <p:txBody>
          <a:bodyPr/>
          <a:lstStyle/>
          <a:p>
            <a:endParaRPr lang="en-ZA"/>
          </a:p>
        </p:txBody>
      </p:sp>
      <p:pic>
        <p:nvPicPr>
          <p:cNvPr id="22" name="Data 4 icon" descr="preencoded.png"/>
          <p:cNvPicPr>
            <a:picLocks noChangeAspect="1"/>
          </p:cNvPicPr>
          <p:nvPr/>
        </p:nvPicPr>
        <p:blipFill>
          <a:blip r:embed="rId6"/>
          <a:stretch>
            <a:fillRect/>
          </a:stretch>
        </p:blipFill>
        <p:spPr>
          <a:xfrm>
            <a:off x="4935017" y="4523537"/>
            <a:ext cx="416966" cy="416966"/>
          </a:xfrm>
          <a:prstGeom prst="rect">
            <a:avLst/>
          </a:prstGeom>
        </p:spPr>
      </p:pic>
      <p:sp>
        <p:nvSpPr>
          <p:cNvPr id="23" name="Data name 4"/>
          <p:cNvSpPr txBox="1"/>
          <p:nvPr/>
        </p:nvSpPr>
        <p:spPr>
          <a:xfrm>
            <a:off x="5760720" y="4160520"/>
            <a:ext cx="2286000" cy="457200"/>
          </a:xfrm>
          <a:prstGeom prst="rect">
            <a:avLst/>
          </a:prstGeom>
          <a:noFill/>
          <a:ln/>
        </p:spPr>
        <p:txBody>
          <a:bodyPr wrap="square" lIns="0" tIns="0" rIns="0" bIns="0" rtlCol="0" anchor="ctr"/>
          <a:lstStyle/>
          <a:p>
            <a:pPr marL="0" indent="0">
              <a:buNone/>
            </a:pPr>
            <a:r>
              <a:rPr lang="en-US" sz="1800" b="1" dirty="0">
                <a:solidFill>
                  <a:schemeClr val="tx1"/>
                </a:solidFill>
              </a:rPr>
              <a:t>Hospitals + safe zones</a:t>
            </a:r>
            <a:endParaRPr lang="en-US" sz="1800" dirty="0"/>
          </a:p>
        </p:txBody>
      </p:sp>
      <p:sp>
        <p:nvSpPr>
          <p:cNvPr id="24" name="Data use 4"/>
          <p:cNvSpPr txBox="1"/>
          <p:nvPr/>
        </p:nvSpPr>
        <p:spPr>
          <a:xfrm>
            <a:off x="5760720" y="4663440"/>
            <a:ext cx="2286000" cy="731520"/>
          </a:xfrm>
          <a:prstGeom prst="rect">
            <a:avLst/>
          </a:prstGeom>
          <a:noFill/>
          <a:ln/>
        </p:spPr>
        <p:txBody>
          <a:bodyPr wrap="square" lIns="0" tIns="0" rIns="0" bIns="0" rtlCol="0" anchor="ctr"/>
          <a:lstStyle/>
          <a:p>
            <a:pPr marL="0" indent="0">
              <a:buNone/>
            </a:pPr>
            <a:r>
              <a:rPr lang="en-US" sz="1400" dirty="0">
                <a:solidFill>
                  <a:schemeClr val="tx1"/>
                </a:solidFill>
              </a:rPr>
              <a:t>Ambulance and evacuation targets; beds simulated</a:t>
            </a:r>
            <a:endParaRPr lang="en-US" sz="1400" dirty="0"/>
          </a:p>
        </p:txBody>
      </p:sp>
      <p:sp>
        <p:nvSpPr>
          <p:cNvPr id="25" name="Synthetic tag"/>
          <p:cNvSpPr txBox="1"/>
          <p:nvPr/>
        </p:nvSpPr>
        <p:spPr>
          <a:xfrm>
            <a:off x="6400800" y="3913632"/>
            <a:ext cx="1645920" cy="274320"/>
          </a:xfrm>
          <a:prstGeom prst="rect">
            <a:avLst/>
          </a:prstGeom>
          <a:solidFill>
            <a:schemeClr val="accent2"/>
          </a:solidFill>
          <a:ln/>
        </p:spPr>
        <p:txBody>
          <a:bodyPr wrap="square" lIns="0" tIns="0" rIns="0" bIns="0" rtlCol="0" anchor="ctr"/>
          <a:lstStyle/>
          <a:p>
            <a:pPr marL="0" indent="0" algn="ctr">
              <a:buNone/>
            </a:pPr>
            <a:r>
              <a:rPr lang="en-US" sz="1100" b="1" dirty="0">
                <a:solidFill>
                  <a:schemeClr val="bg1"/>
                </a:solidFill>
              </a:rPr>
              <a:t>PARTLY SIMULATED</a:t>
            </a:r>
            <a:endParaRPr lang="en-US" sz="1100" dirty="0"/>
          </a:p>
        </p:txBody>
      </p:sp>
      <p:sp>
        <p:nvSpPr>
          <p:cNvPr id="26" name="Data quality frame"/>
          <p:cNvSpPr/>
          <p:nvPr/>
        </p:nvSpPr>
        <p:spPr>
          <a:xfrm>
            <a:off x="8503919" y="1874520"/>
            <a:ext cx="3429001" cy="2515173"/>
          </a:xfrm>
          <a:prstGeom prst="rect">
            <a:avLst/>
          </a:prstGeom>
          <a:solidFill>
            <a:schemeClr val="bg1"/>
          </a:solidFill>
          <a:ln w="19050">
            <a:solidFill>
              <a:schemeClr val="accent1"/>
            </a:solidFill>
            <a:prstDash val="dash"/>
          </a:ln>
        </p:spPr>
        <p:txBody>
          <a:bodyPr/>
          <a:lstStyle/>
          <a:p>
            <a:endParaRPr lang="en-ZA"/>
          </a:p>
        </p:txBody>
      </p:sp>
      <p:sp>
        <p:nvSpPr>
          <p:cNvPr id="28"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4</a:t>
            </a:fld>
            <a:endParaRPr lang="en-US"/>
          </a:p>
        </p:txBody>
      </p:sp>
      <p:pic>
        <p:nvPicPr>
          <p:cNvPr id="30" name="Picture 29">
            <a:extLst>
              <a:ext uri="{FF2B5EF4-FFF2-40B4-BE49-F238E27FC236}">
                <a16:creationId xmlns:a16="http://schemas.microsoft.com/office/drawing/2014/main" id="{3E37BB0E-FB4C-B02A-1998-1451DA309A68}"/>
              </a:ext>
            </a:extLst>
          </p:cNvPr>
          <p:cNvPicPr>
            <a:picLocks noChangeAspect="1"/>
          </p:cNvPicPr>
          <p:nvPr/>
        </p:nvPicPr>
        <p:blipFill>
          <a:blip r:embed="rId7"/>
          <a:stretch>
            <a:fillRect/>
          </a:stretch>
        </p:blipFill>
        <p:spPr>
          <a:xfrm>
            <a:off x="8503920" y="1874520"/>
            <a:ext cx="3429000" cy="25151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Our solution</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QuakeFix is different, and it turns data into decisions.</a:t>
            </a:r>
            <a:endParaRPr lang="en-US" sz="1800" dirty="0"/>
          </a:p>
        </p:txBody>
      </p:sp>
      <p:sp>
        <p:nvSpPr>
          <p:cNvPr id="4" name="Novelty card"/>
          <p:cNvSpPr/>
          <p:nvPr/>
        </p:nvSpPr>
        <p:spPr>
          <a:xfrm>
            <a:off x="548640" y="1828800"/>
            <a:ext cx="11064240" cy="1828800"/>
          </a:xfrm>
          <a:prstGeom prst="rect">
            <a:avLst/>
          </a:prstGeom>
          <a:solidFill>
            <a:schemeClr val="tx1"/>
          </a:solidFill>
          <a:ln/>
        </p:spPr>
        <p:txBody>
          <a:bodyPr/>
          <a:lstStyle/>
          <a:p>
            <a:endParaRPr lang="en-ZA"/>
          </a:p>
        </p:txBody>
      </p:sp>
      <p:sp>
        <p:nvSpPr>
          <p:cNvPr id="5" name="Novelty sentence"/>
          <p:cNvSpPr txBox="1"/>
          <p:nvPr/>
        </p:nvSpPr>
        <p:spPr>
          <a:xfrm>
            <a:off x="822960" y="1920240"/>
            <a:ext cx="10515600" cy="1645920"/>
          </a:xfrm>
          <a:prstGeom prst="rect">
            <a:avLst/>
          </a:prstGeom>
          <a:noFill/>
          <a:ln/>
        </p:spPr>
        <p:txBody>
          <a:bodyPr wrap="square" lIns="0" tIns="0" rIns="0" bIns="0" rtlCol="0" anchor="ctr"/>
          <a:lstStyle/>
          <a:p>
            <a:pPr marL="0" indent="0">
              <a:buNone/>
            </a:pPr>
            <a:r>
              <a:rPr lang="en-US" sz="2200" i="1" dirty="0">
                <a:solidFill>
                  <a:schemeClr val="bg1"/>
                </a:solidFill>
                <a:latin typeface="Cambria" pitchFamily="34" charset="0"/>
                <a:ea typeface="Cambria" pitchFamily="34" charset="-122"/>
                <a:cs typeface="Cambria" pitchFamily="34" charset="-120"/>
              </a:rPr>
              <a:t>Most emergency tools show earthquakes, utilities, roads and hospitals separately; QuakeFix links them into one cascade and turns it into human-approved actions, running on IBM LinuxONE.</a:t>
            </a:r>
            <a:endParaRPr lang="en-US" sz="2200" dirty="0"/>
          </a:p>
        </p:txBody>
      </p:sp>
      <p:sp>
        <p:nvSpPr>
          <p:cNvPr id="6" name="Step 1"/>
          <p:cNvSpPr/>
          <p:nvPr/>
        </p:nvSpPr>
        <p:spPr>
          <a:xfrm>
            <a:off x="548640" y="4206240"/>
            <a:ext cx="2011680" cy="1463040"/>
          </a:xfrm>
          <a:prstGeom prst="roundRect">
            <a:avLst>
              <a:gd name="adj" fmla="val 7500"/>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7" name="Step text 1"/>
          <p:cNvSpPr txBox="1"/>
          <p:nvPr/>
        </p:nvSpPr>
        <p:spPr>
          <a:xfrm>
            <a:off x="548640" y="4206240"/>
            <a:ext cx="2011680" cy="1463040"/>
          </a:xfrm>
          <a:prstGeom prst="rect">
            <a:avLst/>
          </a:prstGeom>
          <a:noFill/>
          <a:ln/>
        </p:spPr>
        <p:txBody>
          <a:bodyPr wrap="square" lIns="1270" tIns="1270" rIns="1270" bIns="1270" rtlCol="0" anchor="ctr"/>
          <a:lstStyle/>
          <a:p>
            <a:pPr marL="0" indent="0" algn="ctr">
              <a:buNone/>
            </a:pPr>
            <a:r>
              <a:rPr lang="en-US" sz="1800" b="1" dirty="0">
                <a:solidFill>
                  <a:schemeClr val="tx1"/>
                </a:solidFill>
              </a:rPr>
              <a:t>Ingest</a:t>
            </a:r>
            <a:endParaRPr lang="en-US" sz="1800" dirty="0"/>
          </a:p>
          <a:p>
            <a:pPr marL="0" indent="0" algn="ctr">
              <a:buNone/>
            </a:pPr>
            <a:r>
              <a:rPr lang="en-US" sz="1400" dirty="0">
                <a:solidFill>
                  <a:schemeClr val="tx1"/>
                </a:solidFill>
              </a:rPr>
              <a:t>USGS + OSM</a:t>
            </a:r>
            <a:endParaRPr lang="en-US" sz="1800" dirty="0"/>
          </a:p>
        </p:txBody>
      </p:sp>
      <p:sp>
        <p:nvSpPr>
          <p:cNvPr id="8" name="Step arrow 1"/>
          <p:cNvSpPr txBox="1"/>
          <p:nvPr/>
        </p:nvSpPr>
        <p:spPr>
          <a:xfrm>
            <a:off x="2560320" y="4663440"/>
            <a:ext cx="228600" cy="548640"/>
          </a:xfrm>
          <a:prstGeom prst="rect">
            <a:avLst/>
          </a:prstGeom>
          <a:noFill/>
          <a:ln/>
        </p:spPr>
        <p:txBody>
          <a:bodyPr wrap="square" lIns="0" tIns="0" rIns="0" bIns="0" rtlCol="0" anchor="ctr"/>
          <a:lstStyle/>
          <a:p>
            <a:pPr marL="0" indent="0" algn="ctr">
              <a:buNone/>
            </a:pPr>
            <a:r>
              <a:rPr lang="en-US" sz="2000" b="1" dirty="0">
                <a:solidFill>
                  <a:schemeClr val="tx1"/>
                </a:solidFill>
              </a:rPr>
              <a:t>→</a:t>
            </a:r>
            <a:endParaRPr lang="en-US" sz="2000" dirty="0"/>
          </a:p>
        </p:txBody>
      </p:sp>
      <p:sp>
        <p:nvSpPr>
          <p:cNvPr id="9" name="Step 2"/>
          <p:cNvSpPr/>
          <p:nvPr/>
        </p:nvSpPr>
        <p:spPr>
          <a:xfrm>
            <a:off x="2788920" y="4206240"/>
            <a:ext cx="2011680" cy="1463040"/>
          </a:xfrm>
          <a:prstGeom prst="roundRect">
            <a:avLst>
              <a:gd name="adj" fmla="val 7500"/>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0" name="Step text 2"/>
          <p:cNvSpPr txBox="1"/>
          <p:nvPr/>
        </p:nvSpPr>
        <p:spPr>
          <a:xfrm>
            <a:off x="2788920" y="4206240"/>
            <a:ext cx="2011680" cy="1463040"/>
          </a:xfrm>
          <a:prstGeom prst="rect">
            <a:avLst/>
          </a:prstGeom>
          <a:noFill/>
          <a:ln/>
        </p:spPr>
        <p:txBody>
          <a:bodyPr wrap="square" lIns="1270" tIns="1270" rIns="1270" bIns="1270" rtlCol="0" anchor="ctr"/>
          <a:lstStyle/>
          <a:p>
            <a:pPr marL="0" indent="0" algn="ctr">
              <a:buNone/>
            </a:pPr>
            <a:r>
              <a:rPr lang="en-US" sz="1800" b="1" dirty="0">
                <a:solidFill>
                  <a:schemeClr val="tx1"/>
                </a:solidFill>
              </a:rPr>
              <a:t>Process</a:t>
            </a:r>
            <a:endParaRPr lang="en-US" sz="1800" dirty="0"/>
          </a:p>
          <a:p>
            <a:pPr marL="0" indent="0" algn="ctr">
              <a:buNone/>
            </a:pPr>
            <a:r>
              <a:rPr lang="en-US" sz="1400" dirty="0">
                <a:solidFill>
                  <a:schemeClr val="tx1"/>
                </a:solidFill>
              </a:rPr>
              <a:t>Pandas / GeoPandas</a:t>
            </a:r>
            <a:endParaRPr lang="en-US" sz="1800" dirty="0"/>
          </a:p>
        </p:txBody>
      </p:sp>
      <p:sp>
        <p:nvSpPr>
          <p:cNvPr id="11" name="Step arrow 2"/>
          <p:cNvSpPr txBox="1"/>
          <p:nvPr/>
        </p:nvSpPr>
        <p:spPr>
          <a:xfrm>
            <a:off x="4800600" y="4663440"/>
            <a:ext cx="228600" cy="548640"/>
          </a:xfrm>
          <a:prstGeom prst="rect">
            <a:avLst/>
          </a:prstGeom>
          <a:noFill/>
          <a:ln/>
        </p:spPr>
        <p:txBody>
          <a:bodyPr wrap="square" lIns="0" tIns="0" rIns="0" bIns="0" rtlCol="0" anchor="ctr"/>
          <a:lstStyle/>
          <a:p>
            <a:pPr marL="0" indent="0" algn="ctr">
              <a:buNone/>
            </a:pPr>
            <a:r>
              <a:rPr lang="en-US" sz="2000" b="1" dirty="0">
                <a:solidFill>
                  <a:schemeClr val="tx1"/>
                </a:solidFill>
              </a:rPr>
              <a:t>→</a:t>
            </a:r>
            <a:endParaRPr lang="en-US" sz="2000" dirty="0"/>
          </a:p>
        </p:txBody>
      </p:sp>
      <p:sp>
        <p:nvSpPr>
          <p:cNvPr id="12" name="Step 3"/>
          <p:cNvSpPr/>
          <p:nvPr/>
        </p:nvSpPr>
        <p:spPr>
          <a:xfrm>
            <a:off x="5029200" y="4206240"/>
            <a:ext cx="2011680" cy="1463040"/>
          </a:xfrm>
          <a:prstGeom prst="roundRect">
            <a:avLst>
              <a:gd name="adj" fmla="val 7500"/>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3" name="Step text 3"/>
          <p:cNvSpPr txBox="1"/>
          <p:nvPr/>
        </p:nvSpPr>
        <p:spPr>
          <a:xfrm>
            <a:off x="5029200" y="4206240"/>
            <a:ext cx="2011680" cy="1463040"/>
          </a:xfrm>
          <a:prstGeom prst="rect">
            <a:avLst/>
          </a:prstGeom>
          <a:noFill/>
          <a:ln/>
        </p:spPr>
        <p:txBody>
          <a:bodyPr wrap="square" lIns="1270" tIns="1270" rIns="1270" bIns="1270" rtlCol="0" anchor="ctr"/>
          <a:lstStyle/>
          <a:p>
            <a:pPr marL="0" indent="0" algn="ctr">
              <a:buNone/>
            </a:pPr>
            <a:r>
              <a:rPr lang="en-US" sz="1800" b="1" dirty="0">
                <a:solidFill>
                  <a:schemeClr val="tx1"/>
                </a:solidFill>
              </a:rPr>
              <a:t>Predict + Route</a:t>
            </a:r>
            <a:endParaRPr lang="en-US" sz="1800" dirty="0"/>
          </a:p>
          <a:p>
            <a:pPr marL="0" indent="0" algn="ctr">
              <a:buNone/>
            </a:pPr>
            <a:r>
              <a:rPr lang="en-US" sz="1400" dirty="0">
                <a:solidFill>
                  <a:schemeClr val="tx1"/>
                </a:solidFill>
              </a:rPr>
              <a:t>XGBoost + NetworkX</a:t>
            </a:r>
            <a:endParaRPr lang="en-US" sz="1800" dirty="0"/>
          </a:p>
        </p:txBody>
      </p:sp>
      <p:sp>
        <p:nvSpPr>
          <p:cNvPr id="14" name="Step arrow 3"/>
          <p:cNvSpPr txBox="1"/>
          <p:nvPr/>
        </p:nvSpPr>
        <p:spPr>
          <a:xfrm>
            <a:off x="7040880" y="4663440"/>
            <a:ext cx="228600" cy="548640"/>
          </a:xfrm>
          <a:prstGeom prst="rect">
            <a:avLst/>
          </a:prstGeom>
          <a:noFill/>
          <a:ln/>
        </p:spPr>
        <p:txBody>
          <a:bodyPr wrap="square" lIns="0" tIns="0" rIns="0" bIns="0" rtlCol="0" anchor="ctr"/>
          <a:lstStyle/>
          <a:p>
            <a:pPr marL="0" indent="0" algn="ctr">
              <a:buNone/>
            </a:pPr>
            <a:r>
              <a:rPr lang="en-US" sz="2000" b="1" dirty="0">
                <a:solidFill>
                  <a:schemeClr val="tx1"/>
                </a:solidFill>
              </a:rPr>
              <a:t>→</a:t>
            </a:r>
            <a:endParaRPr lang="en-US" sz="2000" dirty="0"/>
          </a:p>
        </p:txBody>
      </p:sp>
      <p:sp>
        <p:nvSpPr>
          <p:cNvPr id="15" name="Step 4"/>
          <p:cNvSpPr/>
          <p:nvPr/>
        </p:nvSpPr>
        <p:spPr>
          <a:xfrm>
            <a:off x="7269480" y="4206240"/>
            <a:ext cx="2011680" cy="1463040"/>
          </a:xfrm>
          <a:prstGeom prst="roundRect">
            <a:avLst>
              <a:gd name="adj" fmla="val 7500"/>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6" name="Step text 4"/>
          <p:cNvSpPr txBox="1"/>
          <p:nvPr/>
        </p:nvSpPr>
        <p:spPr>
          <a:xfrm>
            <a:off x="7269480" y="4206240"/>
            <a:ext cx="2011680" cy="1463040"/>
          </a:xfrm>
          <a:prstGeom prst="rect">
            <a:avLst/>
          </a:prstGeom>
          <a:noFill/>
          <a:ln/>
        </p:spPr>
        <p:txBody>
          <a:bodyPr wrap="square" lIns="1270" tIns="1270" rIns="1270" bIns="1270" rtlCol="0" anchor="ctr"/>
          <a:lstStyle/>
          <a:p>
            <a:pPr marL="0" indent="0" algn="ctr">
              <a:buNone/>
            </a:pPr>
            <a:r>
              <a:rPr lang="en-US" sz="1800" b="1" dirty="0">
                <a:solidFill>
                  <a:schemeClr val="tx1"/>
                </a:solidFill>
              </a:rPr>
              <a:t>Serve</a:t>
            </a:r>
            <a:endParaRPr lang="en-US" sz="1800" dirty="0"/>
          </a:p>
          <a:p>
            <a:pPr marL="0" indent="0" algn="ctr">
              <a:buNone/>
            </a:pPr>
            <a:r>
              <a:rPr lang="en-US" sz="1400" dirty="0">
                <a:solidFill>
                  <a:schemeClr val="tx1"/>
                </a:solidFill>
              </a:rPr>
              <a:t>FastAPI</a:t>
            </a:r>
            <a:endParaRPr lang="en-US" sz="1800" dirty="0"/>
          </a:p>
        </p:txBody>
      </p:sp>
      <p:sp>
        <p:nvSpPr>
          <p:cNvPr id="17" name="Step arrow 4"/>
          <p:cNvSpPr txBox="1"/>
          <p:nvPr/>
        </p:nvSpPr>
        <p:spPr>
          <a:xfrm>
            <a:off x="9281160" y="4663440"/>
            <a:ext cx="228600" cy="548640"/>
          </a:xfrm>
          <a:prstGeom prst="rect">
            <a:avLst/>
          </a:prstGeom>
          <a:noFill/>
          <a:ln/>
        </p:spPr>
        <p:txBody>
          <a:bodyPr wrap="square" lIns="0" tIns="0" rIns="0" bIns="0" rtlCol="0" anchor="ctr"/>
          <a:lstStyle/>
          <a:p>
            <a:pPr marL="0" indent="0" algn="ctr">
              <a:buNone/>
            </a:pPr>
            <a:r>
              <a:rPr lang="en-US" sz="2000" b="1" dirty="0">
                <a:solidFill>
                  <a:schemeClr val="tx1"/>
                </a:solidFill>
              </a:rPr>
              <a:t>→</a:t>
            </a:r>
            <a:endParaRPr lang="en-US" sz="2000" dirty="0"/>
          </a:p>
        </p:txBody>
      </p:sp>
      <p:sp>
        <p:nvSpPr>
          <p:cNvPr id="18" name="Step 5"/>
          <p:cNvSpPr/>
          <p:nvPr/>
        </p:nvSpPr>
        <p:spPr>
          <a:xfrm>
            <a:off x="9509760" y="4206240"/>
            <a:ext cx="2011680" cy="1463040"/>
          </a:xfrm>
          <a:prstGeom prst="roundRect">
            <a:avLst>
              <a:gd name="adj" fmla="val 7500"/>
            </a:avLst>
          </a:prstGeom>
          <a:solidFill>
            <a:schemeClr val="accent1"/>
          </a:solidFill>
          <a:ln/>
          <a:effectLst>
            <a:outerShdw blurRad="76200" dist="25400" dir="5400000" algn="bl" rotWithShape="0">
              <a:srgbClr val="000000">
                <a:alpha val="15000"/>
              </a:srgbClr>
            </a:outerShdw>
          </a:effectLst>
        </p:spPr>
        <p:txBody>
          <a:bodyPr/>
          <a:lstStyle/>
          <a:p>
            <a:endParaRPr lang="en-ZA"/>
          </a:p>
        </p:txBody>
      </p:sp>
      <p:sp>
        <p:nvSpPr>
          <p:cNvPr id="19" name="Step text 5"/>
          <p:cNvSpPr txBox="1"/>
          <p:nvPr/>
        </p:nvSpPr>
        <p:spPr>
          <a:xfrm>
            <a:off x="9509760" y="4206240"/>
            <a:ext cx="2011680" cy="1463040"/>
          </a:xfrm>
          <a:prstGeom prst="rect">
            <a:avLst/>
          </a:prstGeom>
          <a:noFill/>
          <a:ln/>
        </p:spPr>
        <p:txBody>
          <a:bodyPr wrap="square" lIns="1270" tIns="1270" rIns="1270" bIns="1270" rtlCol="0" anchor="ctr"/>
          <a:lstStyle/>
          <a:p>
            <a:pPr marL="0" indent="0" algn="ctr">
              <a:buNone/>
            </a:pPr>
            <a:r>
              <a:rPr lang="en-US" sz="1800" b="1" dirty="0">
                <a:solidFill>
                  <a:schemeClr val="bg1"/>
                </a:solidFill>
              </a:rPr>
              <a:t>Decide</a:t>
            </a:r>
            <a:endParaRPr lang="en-US" sz="1800" dirty="0"/>
          </a:p>
          <a:p>
            <a:pPr marL="0" indent="0" algn="ctr">
              <a:buNone/>
            </a:pPr>
            <a:r>
              <a:rPr lang="en-US" sz="1400" dirty="0">
                <a:solidFill>
                  <a:schemeClr val="bg1"/>
                </a:solidFill>
              </a:rPr>
              <a:t>Streamlit map UI</a:t>
            </a:r>
            <a:endParaRPr lang="en-US" sz="1800" dirty="0"/>
          </a:p>
        </p:txBody>
      </p:sp>
      <p:sp>
        <p:nvSpPr>
          <p:cNvPr id="20" name="Scope line"/>
          <p:cNvSpPr txBox="1"/>
          <p:nvPr/>
        </p:nvSpPr>
        <p:spPr>
          <a:xfrm>
            <a:off x="548640" y="5852160"/>
            <a:ext cx="11064240" cy="365760"/>
          </a:xfrm>
          <a:prstGeom prst="rect">
            <a:avLst/>
          </a:prstGeom>
          <a:noFill/>
          <a:ln/>
        </p:spPr>
        <p:txBody>
          <a:bodyPr wrap="square" lIns="0" tIns="0" rIns="0" bIns="0" rtlCol="0" anchor="ctr"/>
          <a:lstStyle/>
          <a:p>
            <a:pPr marL="0" indent="0" algn="ctr">
              <a:buNone/>
            </a:pPr>
            <a:r>
              <a:rPr lang="en-US" sz="1500" b="1" dirty="0">
                <a:solidFill>
                  <a:schemeClr val="tx1"/>
                </a:solidFill>
              </a:rPr>
              <a:t>4 hazards: pipe burst, fire, flood, structural damage   |   2 routing modes: ambulance and citizen evacuation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Architecture</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the design is sound and every layer has a clear job.</a:t>
            </a:r>
            <a:endParaRPr lang="en-US" sz="1800" dirty="0"/>
          </a:p>
        </p:txBody>
      </p:sp>
      <p:sp>
        <p:nvSpPr>
          <p:cNvPr id="4" name="Architecture diagram frame"/>
          <p:cNvSpPr/>
          <p:nvPr/>
        </p:nvSpPr>
        <p:spPr>
          <a:xfrm>
            <a:off x="548640" y="1783080"/>
            <a:ext cx="6309360" cy="4389120"/>
          </a:xfrm>
          <a:prstGeom prst="rect">
            <a:avLst/>
          </a:prstGeom>
          <a:solidFill>
            <a:schemeClr val="bg1"/>
          </a:solidFill>
          <a:ln w="19050">
            <a:solidFill>
              <a:schemeClr val="accent1"/>
            </a:solidFill>
            <a:prstDash val="dash"/>
          </a:ln>
        </p:spPr>
        <p:txBody>
          <a:bodyPr/>
          <a:lstStyle/>
          <a:p>
            <a:endParaRPr lang="en-ZA"/>
          </a:p>
        </p:txBody>
      </p:sp>
      <p:sp>
        <p:nvSpPr>
          <p:cNvPr id="5" name="Architecture diagram label"/>
          <p:cNvSpPr txBox="1"/>
          <p:nvPr/>
        </p:nvSpPr>
        <p:spPr>
          <a:xfrm>
            <a:off x="731520" y="1783080"/>
            <a:ext cx="5943600" cy="4389120"/>
          </a:xfrm>
          <a:prstGeom prst="rect">
            <a:avLst/>
          </a:prstGeom>
          <a:noFill/>
          <a:ln/>
        </p:spPr>
        <p:txBody>
          <a:bodyPr wrap="square" lIns="0" tIns="0" rIns="0" bIns="0" rtlCol="0" anchor="ctr"/>
          <a:lstStyle/>
          <a:p>
            <a:pPr marL="0" indent="0" algn="ctr">
              <a:buNone/>
            </a:pPr>
            <a:r>
              <a:rPr lang="en-US" sz="1400" i="1" dirty="0">
                <a:solidFill>
                  <a:schemeClr val="tx1"/>
                </a:solidFill>
              </a:rPr>
              <a:t>[Insert architecture_diagram.png here: Insert &gt; Pictures &gt; This Device]</a:t>
            </a:r>
            <a:endParaRPr lang="en-US" sz="1400" dirty="0"/>
          </a:p>
        </p:txBody>
      </p:sp>
      <p:sp>
        <p:nvSpPr>
          <p:cNvPr id="6" name="Arch 1 circle"/>
          <p:cNvSpPr/>
          <p:nvPr/>
        </p:nvSpPr>
        <p:spPr>
          <a:xfrm>
            <a:off x="7223760" y="2011680"/>
            <a:ext cx="822960" cy="822960"/>
          </a:xfrm>
          <a:prstGeom prst="ellipse">
            <a:avLst/>
          </a:prstGeom>
          <a:solidFill>
            <a:schemeClr val="accent1"/>
          </a:solidFill>
          <a:ln w="12700">
            <a:solidFill>
              <a:schemeClr val="accent1"/>
            </a:solidFill>
            <a:prstDash val="solid"/>
          </a:ln>
        </p:spPr>
        <p:txBody>
          <a:bodyPr/>
          <a:lstStyle/>
          <a:p>
            <a:endParaRPr lang="en-ZA"/>
          </a:p>
        </p:txBody>
      </p:sp>
      <p:pic>
        <p:nvPicPr>
          <p:cNvPr id="7" name="Arch 1 icon" descr="preencoded.png"/>
          <p:cNvPicPr>
            <a:picLocks noChangeAspect="1"/>
          </p:cNvPicPr>
          <p:nvPr/>
        </p:nvPicPr>
        <p:blipFill>
          <a:blip r:embed="rId3"/>
          <a:stretch>
            <a:fillRect/>
          </a:stretch>
        </p:blipFill>
        <p:spPr>
          <a:xfrm>
            <a:off x="7437730" y="2225650"/>
            <a:ext cx="395021" cy="395021"/>
          </a:xfrm>
          <a:prstGeom prst="rect">
            <a:avLst/>
          </a:prstGeom>
        </p:spPr>
      </p:pic>
      <p:sp>
        <p:nvSpPr>
          <p:cNvPr id="8" name="Arch text 1"/>
          <p:cNvSpPr txBox="1"/>
          <p:nvPr/>
        </p:nvSpPr>
        <p:spPr>
          <a:xfrm>
            <a:off x="8229600" y="1874520"/>
            <a:ext cx="3383280" cy="1188720"/>
          </a:xfrm>
          <a:prstGeom prst="rect">
            <a:avLst/>
          </a:prstGeom>
          <a:noFill/>
          <a:ln/>
        </p:spPr>
        <p:txBody>
          <a:bodyPr wrap="square" lIns="0" tIns="0" rIns="0" bIns="0" rtlCol="0" anchor="ctr"/>
          <a:lstStyle/>
          <a:p>
            <a:pPr marL="0" indent="0">
              <a:buNone/>
            </a:pPr>
            <a:r>
              <a:rPr lang="en-US" sz="2000" b="1" dirty="0">
                <a:solidFill>
                  <a:schemeClr val="tx1"/>
                </a:solidFill>
              </a:rPr>
              <a:t>Ingest</a:t>
            </a:r>
            <a:endParaRPr lang="en-US" sz="2000" dirty="0"/>
          </a:p>
          <a:p>
            <a:pPr marL="0" indent="0">
              <a:buNone/>
            </a:pPr>
            <a:r>
              <a:rPr lang="en-US" sz="1400" dirty="0">
                <a:solidFill>
                  <a:schemeClr val="tx1"/>
                </a:solidFill>
              </a:rPr>
              <a:t>USGS, OpenStreetMap, DataSF</a:t>
            </a:r>
            <a:endParaRPr lang="en-US" sz="2000" dirty="0"/>
          </a:p>
        </p:txBody>
      </p:sp>
      <p:sp>
        <p:nvSpPr>
          <p:cNvPr id="9" name="Arch 2 circle"/>
          <p:cNvSpPr/>
          <p:nvPr/>
        </p:nvSpPr>
        <p:spPr>
          <a:xfrm>
            <a:off x="7223760" y="3474720"/>
            <a:ext cx="822960" cy="822960"/>
          </a:xfrm>
          <a:prstGeom prst="ellipse">
            <a:avLst/>
          </a:prstGeom>
          <a:solidFill>
            <a:schemeClr val="accent1"/>
          </a:solidFill>
          <a:ln w="12700">
            <a:solidFill>
              <a:schemeClr val="accent1"/>
            </a:solidFill>
            <a:prstDash val="solid"/>
          </a:ln>
        </p:spPr>
        <p:txBody>
          <a:bodyPr/>
          <a:lstStyle/>
          <a:p>
            <a:endParaRPr lang="en-ZA"/>
          </a:p>
        </p:txBody>
      </p:sp>
      <p:pic>
        <p:nvPicPr>
          <p:cNvPr id="10" name="Arch 2 icon" descr="preencoded.png"/>
          <p:cNvPicPr>
            <a:picLocks noChangeAspect="1"/>
          </p:cNvPicPr>
          <p:nvPr/>
        </p:nvPicPr>
        <p:blipFill>
          <a:blip r:embed="rId4"/>
          <a:stretch>
            <a:fillRect/>
          </a:stretch>
        </p:blipFill>
        <p:spPr>
          <a:xfrm>
            <a:off x="7437730" y="3688690"/>
            <a:ext cx="395021" cy="395021"/>
          </a:xfrm>
          <a:prstGeom prst="rect">
            <a:avLst/>
          </a:prstGeom>
        </p:spPr>
      </p:pic>
      <p:sp>
        <p:nvSpPr>
          <p:cNvPr id="11" name="Arch text 2"/>
          <p:cNvSpPr txBox="1"/>
          <p:nvPr/>
        </p:nvSpPr>
        <p:spPr>
          <a:xfrm>
            <a:off x="8229600" y="3337560"/>
            <a:ext cx="3383280" cy="1188720"/>
          </a:xfrm>
          <a:prstGeom prst="rect">
            <a:avLst/>
          </a:prstGeom>
          <a:noFill/>
          <a:ln/>
        </p:spPr>
        <p:txBody>
          <a:bodyPr wrap="square" lIns="0" tIns="0" rIns="0" bIns="0" rtlCol="0" anchor="ctr"/>
          <a:lstStyle/>
          <a:p>
            <a:pPr marL="0" indent="0">
              <a:buNone/>
            </a:pPr>
            <a:r>
              <a:rPr lang="en-US" sz="2000" b="1" dirty="0">
                <a:solidFill>
                  <a:schemeClr val="tx1"/>
                </a:solidFill>
              </a:rPr>
              <a:t>Predict</a:t>
            </a:r>
            <a:endParaRPr lang="en-US" sz="2000" dirty="0"/>
          </a:p>
          <a:p>
            <a:pPr marL="0" indent="0">
              <a:buNone/>
            </a:pPr>
            <a:r>
              <a:rPr lang="en-US" sz="1400" dirty="0">
                <a:solidFill>
                  <a:schemeClr val="tx1"/>
                </a:solidFill>
              </a:rPr>
              <a:t>4 hazard models (classification + regression)</a:t>
            </a:r>
            <a:endParaRPr lang="en-US" sz="2000" dirty="0"/>
          </a:p>
        </p:txBody>
      </p:sp>
      <p:sp>
        <p:nvSpPr>
          <p:cNvPr id="12" name="Arch 3 circle"/>
          <p:cNvSpPr/>
          <p:nvPr/>
        </p:nvSpPr>
        <p:spPr>
          <a:xfrm>
            <a:off x="7223760" y="4937760"/>
            <a:ext cx="822960" cy="822960"/>
          </a:xfrm>
          <a:prstGeom prst="ellipse">
            <a:avLst/>
          </a:prstGeom>
          <a:solidFill>
            <a:schemeClr val="accent1"/>
          </a:solidFill>
          <a:ln w="12700">
            <a:solidFill>
              <a:schemeClr val="accent1"/>
            </a:solidFill>
            <a:prstDash val="solid"/>
          </a:ln>
        </p:spPr>
        <p:txBody>
          <a:bodyPr/>
          <a:lstStyle/>
          <a:p>
            <a:endParaRPr lang="en-ZA"/>
          </a:p>
        </p:txBody>
      </p:sp>
      <p:pic>
        <p:nvPicPr>
          <p:cNvPr id="13" name="Arch 3 icon" descr="preencoded.png"/>
          <p:cNvPicPr>
            <a:picLocks noChangeAspect="1"/>
          </p:cNvPicPr>
          <p:nvPr/>
        </p:nvPicPr>
        <p:blipFill>
          <a:blip r:embed="rId5"/>
          <a:stretch>
            <a:fillRect/>
          </a:stretch>
        </p:blipFill>
        <p:spPr>
          <a:xfrm>
            <a:off x="7437730" y="5151730"/>
            <a:ext cx="395021" cy="395021"/>
          </a:xfrm>
          <a:prstGeom prst="rect">
            <a:avLst/>
          </a:prstGeom>
        </p:spPr>
      </p:pic>
      <p:sp>
        <p:nvSpPr>
          <p:cNvPr id="14" name="Arch text 3"/>
          <p:cNvSpPr txBox="1"/>
          <p:nvPr/>
        </p:nvSpPr>
        <p:spPr>
          <a:xfrm>
            <a:off x="8229600" y="4800600"/>
            <a:ext cx="3383280" cy="1188720"/>
          </a:xfrm>
          <a:prstGeom prst="rect">
            <a:avLst/>
          </a:prstGeom>
          <a:noFill/>
          <a:ln/>
        </p:spPr>
        <p:txBody>
          <a:bodyPr wrap="square" lIns="0" tIns="0" rIns="0" bIns="0" rtlCol="0" anchor="ctr"/>
          <a:lstStyle/>
          <a:p>
            <a:pPr marL="0" indent="0">
              <a:buNone/>
            </a:pPr>
            <a:r>
              <a:rPr lang="en-US" sz="2000" b="1" dirty="0">
                <a:solidFill>
                  <a:schemeClr val="tx1"/>
                </a:solidFill>
              </a:rPr>
              <a:t>Route and decide</a:t>
            </a:r>
            <a:endParaRPr lang="en-US" sz="2000" dirty="0"/>
          </a:p>
          <a:p>
            <a:pPr marL="0" indent="0">
              <a:buNone/>
            </a:pPr>
            <a:r>
              <a:rPr lang="en-US" sz="1400" dirty="0">
                <a:solidFill>
                  <a:schemeClr val="tx1"/>
                </a:solidFill>
              </a:rPr>
              <a:t>Ambulance and evacuation paths; commander approves</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6</a:t>
            </a:fld>
            <a:endParaRPr lang="en-US"/>
          </a:p>
        </p:txBody>
      </p:sp>
      <p:pic>
        <p:nvPicPr>
          <p:cNvPr id="16" name="Picture 15">
            <a:extLst>
              <a:ext uri="{FF2B5EF4-FFF2-40B4-BE49-F238E27FC236}">
                <a16:creationId xmlns:a16="http://schemas.microsoft.com/office/drawing/2014/main" id="{AF5C72E9-0DDB-35D0-43EF-8135803B705D}"/>
              </a:ext>
            </a:extLst>
          </p:cNvPr>
          <p:cNvPicPr>
            <a:picLocks noChangeAspect="1"/>
          </p:cNvPicPr>
          <p:nvPr/>
        </p:nvPicPr>
        <p:blipFill>
          <a:blip r:embed="rId6"/>
          <a:stretch>
            <a:fillRect/>
          </a:stretch>
        </p:blipFill>
        <p:spPr>
          <a:xfrm>
            <a:off x="548640" y="1783080"/>
            <a:ext cx="6309360" cy="4389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Live demo</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event in, prioritised directive out, human decides.</a:t>
            </a:r>
            <a:endParaRPr lang="en-US" sz="1800" dirty="0"/>
          </a:p>
        </p:txBody>
      </p:sp>
      <p:sp>
        <p:nvSpPr>
          <p:cNvPr id="4" name="Demo video frame"/>
          <p:cNvSpPr/>
          <p:nvPr/>
        </p:nvSpPr>
        <p:spPr>
          <a:xfrm>
            <a:off x="226612" y="1645920"/>
            <a:ext cx="7180028" cy="4699221"/>
          </a:xfrm>
          <a:prstGeom prst="rect">
            <a:avLst/>
          </a:prstGeom>
          <a:solidFill>
            <a:schemeClr val="bg1"/>
          </a:solidFill>
          <a:ln w="19050">
            <a:solidFill>
              <a:schemeClr val="accent1"/>
            </a:solidFill>
            <a:prstDash val="dash"/>
          </a:ln>
        </p:spPr>
        <p:txBody>
          <a:bodyPr/>
          <a:lstStyle/>
          <a:p>
            <a:endParaRPr lang="en-ZA"/>
          </a:p>
        </p:txBody>
      </p:sp>
      <p:sp>
        <p:nvSpPr>
          <p:cNvPr id="5" name="Demo video label"/>
          <p:cNvSpPr txBox="1"/>
          <p:nvPr/>
        </p:nvSpPr>
        <p:spPr>
          <a:xfrm>
            <a:off x="731520" y="1828800"/>
            <a:ext cx="6400800" cy="4023360"/>
          </a:xfrm>
          <a:prstGeom prst="rect">
            <a:avLst/>
          </a:prstGeom>
          <a:noFill/>
          <a:ln/>
        </p:spPr>
        <p:txBody>
          <a:bodyPr wrap="square" lIns="0" tIns="0" rIns="0" bIns="0" rtlCol="0" anchor="ctr"/>
          <a:lstStyle/>
          <a:p>
            <a:pPr marL="0" indent="0" algn="ctr">
              <a:buNone/>
            </a:pPr>
            <a:r>
              <a:rPr lang="en-US" sz="1400" i="1" dirty="0">
                <a:solidFill>
                  <a:schemeClr val="tx1"/>
                </a:solidFill>
              </a:rPr>
              <a:t>[Insert screen recording here: Insert &gt; Video &gt; This Device. Event in, directive out, commander decides.]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7</a:t>
            </a:fld>
            <a:endParaRPr lang="en-US"/>
          </a:p>
        </p:txBody>
      </p:sp>
      <p:pic>
        <p:nvPicPr>
          <p:cNvPr id="26" name="Screenshot map" descr="map.png"/>
          <p:cNvPicPr>
            <a:picLocks noChangeAspect="1"/>
          </p:cNvPicPr>
          <p:nvPr/>
        </p:nvPicPr>
        <p:blipFill>
          <a:blip r:embed="rId5"/>
          <a:stretch>
            <a:fillRect/>
          </a:stretch>
        </p:blipFill>
        <p:spPr>
          <a:xfrm>
            <a:off x="7589520" y="1828800"/>
            <a:ext cx="4023360" cy="1995391"/>
          </a:xfrm>
          <a:prstGeom prst="rect">
            <a:avLst/>
          </a:prstGeom>
          <a:ln w="15875">
            <a:solidFill>
              <a:srgbClr val="0B2A6B"/>
            </a:solidFill>
          </a:ln>
        </p:spPr>
      </p:pic>
      <p:pic>
        <p:nvPicPr>
          <p:cNvPr id="27" name="Screenshot live risk" descr="live.png"/>
          <p:cNvPicPr>
            <a:picLocks noChangeAspect="1"/>
          </p:cNvPicPr>
          <p:nvPr/>
        </p:nvPicPr>
        <p:blipFill>
          <a:blip r:embed="rId6"/>
          <a:stretch>
            <a:fillRect/>
          </a:stretch>
        </p:blipFill>
        <p:spPr>
          <a:xfrm>
            <a:off x="7589520" y="4069080"/>
            <a:ext cx="4023360" cy="1995391"/>
          </a:xfrm>
          <a:prstGeom prst="rect">
            <a:avLst/>
          </a:prstGeom>
          <a:ln w="15875">
            <a:solidFill>
              <a:srgbClr val="0B2A6B"/>
            </a:solidFill>
          </a:ln>
        </p:spPr>
      </p:pic>
      <p:sp>
        <p:nvSpPr>
          <p:cNvPr id="28" name="Caption map"/>
          <p:cNvSpPr txBox="1"/>
          <p:nvPr/>
        </p:nvSpPr>
        <p:spPr>
          <a:xfrm>
            <a:off x="7589520" y="3858768"/>
            <a:ext cx="4023360" cy="201168"/>
          </a:xfrm>
          <a:prstGeom prst="rect">
            <a:avLst/>
          </a:prstGeom>
          <a:noFill/>
        </p:spPr>
        <p:txBody>
          <a:bodyPr wrap="square" lIns="0" tIns="0" rIns="0" bIns="0" anchor="t">
            <a:spAutoFit/>
          </a:bodyPr>
          <a:lstStyle/>
          <a:p>
            <a:pPr algn="l"/>
            <a:r>
              <a:rPr sz="1000" b="0" i="1">
                <a:solidFill>
                  <a:srgbClr val="0B2A6B"/>
                </a:solidFill>
                <a:latin typeface="Calibri"/>
              </a:rPr>
              <a:t>Command map: hazard zones, hospitals, safe points, routes</a:t>
            </a:r>
          </a:p>
        </p:txBody>
      </p:sp>
      <p:sp>
        <p:nvSpPr>
          <p:cNvPr id="29" name="Caption live"/>
          <p:cNvSpPr txBox="1"/>
          <p:nvPr/>
        </p:nvSpPr>
        <p:spPr>
          <a:xfrm>
            <a:off x="7589520" y="6108192"/>
            <a:ext cx="4023360" cy="201168"/>
          </a:xfrm>
          <a:prstGeom prst="rect">
            <a:avLst/>
          </a:prstGeom>
          <a:noFill/>
        </p:spPr>
        <p:txBody>
          <a:bodyPr wrap="square" lIns="0" tIns="0" rIns="0" bIns="0" anchor="t">
            <a:spAutoFit/>
          </a:bodyPr>
          <a:lstStyle/>
          <a:p>
            <a:pPr algn="l"/>
            <a:r>
              <a:rPr sz="1000" b="0" i="1">
                <a:solidFill>
                  <a:srgbClr val="0B2A6B"/>
                </a:solidFill>
                <a:latin typeface="Calibri"/>
              </a:rPr>
              <a:t>Live risk prediction: burst, fire, flood, damage</a:t>
            </a:r>
          </a:p>
        </p:txBody>
      </p:sp>
      <p:pic>
        <p:nvPicPr>
          <p:cNvPr id="6" name="WhatsApp Video 2026-10-18 at 5.47.52 PM">
            <a:hlinkClick r:id="" action="ppaction://media"/>
            <a:extLst>
              <a:ext uri="{FF2B5EF4-FFF2-40B4-BE49-F238E27FC236}">
                <a16:creationId xmlns:a16="http://schemas.microsoft.com/office/drawing/2014/main" id="{9C3D0D75-E26D-E66E-534B-55B8A9D562E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26612" y="1653870"/>
            <a:ext cx="7186654" cy="47469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972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Human control and field relay</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a commander decides every action, and field teams get a compact relay.</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8</a:t>
            </a:fld>
            <a:endParaRPr lang="en-US"/>
          </a:p>
        </p:txBody>
      </p:sp>
      <p:pic>
        <p:nvPicPr>
          <p:cNvPr id="26" name="Screenshot directive queue" descr="queue.png"/>
          <p:cNvPicPr>
            <a:picLocks noChangeAspect="1"/>
          </p:cNvPicPr>
          <p:nvPr/>
        </p:nvPicPr>
        <p:blipFill>
          <a:blip r:embed="rId2"/>
          <a:stretch>
            <a:fillRect/>
          </a:stretch>
        </p:blipFill>
        <p:spPr>
          <a:xfrm>
            <a:off x="548640" y="1828800"/>
            <a:ext cx="5440680" cy="3568853"/>
          </a:xfrm>
          <a:prstGeom prst="rect">
            <a:avLst/>
          </a:prstGeom>
          <a:ln w="15875">
            <a:solidFill>
              <a:srgbClr val="0B2A6B"/>
            </a:solidFill>
          </a:ln>
        </p:spPr>
      </p:pic>
      <p:pic>
        <p:nvPicPr>
          <p:cNvPr id="27" name="Screenshot dispatch export" descr="sms.png"/>
          <p:cNvPicPr>
            <a:picLocks noChangeAspect="1"/>
          </p:cNvPicPr>
          <p:nvPr/>
        </p:nvPicPr>
        <p:blipFill>
          <a:blip r:embed="rId3"/>
          <a:stretch>
            <a:fillRect/>
          </a:stretch>
        </p:blipFill>
        <p:spPr>
          <a:xfrm>
            <a:off x="6199632" y="1828800"/>
            <a:ext cx="5440680" cy="3568853"/>
          </a:xfrm>
          <a:prstGeom prst="rect">
            <a:avLst/>
          </a:prstGeom>
          <a:ln w="15875">
            <a:solidFill>
              <a:srgbClr val="0B2A6B"/>
            </a:solidFill>
          </a:ln>
        </p:spPr>
      </p:pic>
      <p:sp>
        <p:nvSpPr>
          <p:cNvPr id="28" name="Caption queue"/>
          <p:cNvSpPr txBox="1"/>
          <p:nvPr/>
        </p:nvSpPr>
        <p:spPr>
          <a:xfrm>
            <a:off x="548640" y="5486400"/>
            <a:ext cx="5440680" cy="731520"/>
          </a:xfrm>
          <a:prstGeom prst="rect">
            <a:avLst/>
          </a:prstGeom>
          <a:noFill/>
        </p:spPr>
        <p:txBody>
          <a:bodyPr wrap="square" lIns="0" tIns="0" rIns="0" bIns="0" anchor="t">
            <a:spAutoFit/>
          </a:bodyPr>
          <a:lstStyle/>
          <a:p>
            <a:pPr algn="l"/>
            <a:r>
              <a:rPr sz="1400" b="0" i="1">
                <a:solidFill>
                  <a:srgbClr val="0B2A6B"/>
                </a:solidFill>
                <a:latin typeface="Calibri"/>
              </a:rPr>
              <a:t>Directive queue: each action shows risk and confidence. The commander approves or overrides and records a reason.</a:t>
            </a:r>
          </a:p>
        </p:txBody>
      </p:sp>
      <p:sp>
        <p:nvSpPr>
          <p:cNvPr id="29" name="Caption dispatch"/>
          <p:cNvSpPr txBox="1"/>
          <p:nvPr/>
        </p:nvSpPr>
        <p:spPr>
          <a:xfrm>
            <a:off x="6199632" y="5486400"/>
            <a:ext cx="5440680" cy="731520"/>
          </a:xfrm>
          <a:prstGeom prst="rect">
            <a:avLst/>
          </a:prstGeom>
          <a:noFill/>
        </p:spPr>
        <p:txBody>
          <a:bodyPr wrap="square" lIns="0" tIns="0" rIns="0" bIns="0" anchor="t">
            <a:spAutoFit/>
          </a:bodyPr>
          <a:lstStyle/>
          <a:p>
            <a:pPr algn="l"/>
            <a:r>
              <a:rPr sz="1400" b="0" i="1">
                <a:solidFill>
                  <a:srgbClr val="0B2A6B"/>
                </a:solidFill>
                <a:latin typeface="Calibri"/>
              </a:rPr>
              <a:t>Dispatch tab: a compact broadcast for radio and SMS, plus a downloadable audit log.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ide title"/>
          <p:cNvSpPr txBox="1"/>
          <p:nvPr/>
        </p:nvSpPr>
        <p:spPr>
          <a:xfrm>
            <a:off x="548640" y="365760"/>
            <a:ext cx="8229600" cy="82296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Built on IBM Z</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bg2"/>
                </a:solidFill>
              </a:rPr>
              <a:t>Most important slide. Must prove: LinuxONE is used meaningfully, not just as hosting.</a:t>
            </a:r>
            <a:endParaRPr lang="en-US" sz="1800" dirty="0"/>
          </a:p>
        </p:txBody>
      </p:sp>
      <p:sp>
        <p:nvSpPr>
          <p:cNvPr id="4" name="Stack 1 circle"/>
          <p:cNvSpPr/>
          <p:nvPr/>
        </p:nvSpPr>
        <p:spPr>
          <a:xfrm>
            <a:off x="548640" y="1920240"/>
            <a:ext cx="731520" cy="731520"/>
          </a:xfrm>
          <a:prstGeom prst="ellipse">
            <a:avLst/>
          </a:prstGeom>
          <a:solidFill>
            <a:schemeClr val="accent1"/>
          </a:solidFill>
          <a:ln w="12700">
            <a:solidFill>
              <a:schemeClr val="accent1"/>
            </a:solidFill>
            <a:prstDash val="solid"/>
          </a:ln>
        </p:spPr>
        <p:txBody>
          <a:bodyPr/>
          <a:lstStyle/>
          <a:p>
            <a:endParaRPr lang="en-ZA"/>
          </a:p>
        </p:txBody>
      </p:sp>
      <p:pic>
        <p:nvPicPr>
          <p:cNvPr id="5" name="Stack 1 icon" descr="preencoded.png"/>
          <p:cNvPicPr>
            <a:picLocks noChangeAspect="1"/>
          </p:cNvPicPr>
          <p:nvPr/>
        </p:nvPicPr>
        <p:blipFill>
          <a:blip r:embed="rId3"/>
          <a:stretch>
            <a:fillRect/>
          </a:stretch>
        </p:blipFill>
        <p:spPr>
          <a:xfrm>
            <a:off x="738835" y="2110435"/>
            <a:ext cx="351130" cy="351130"/>
          </a:xfrm>
          <a:prstGeom prst="rect">
            <a:avLst/>
          </a:prstGeom>
        </p:spPr>
      </p:pic>
      <p:sp>
        <p:nvSpPr>
          <p:cNvPr id="6" name="Stack text 1"/>
          <p:cNvSpPr txBox="1"/>
          <p:nvPr/>
        </p:nvSpPr>
        <p:spPr>
          <a:xfrm>
            <a:off x="1463040" y="1920240"/>
            <a:ext cx="4206240" cy="731520"/>
          </a:xfrm>
          <a:prstGeom prst="rect">
            <a:avLst/>
          </a:prstGeom>
          <a:noFill/>
          <a:ln/>
        </p:spPr>
        <p:txBody>
          <a:bodyPr wrap="square" lIns="0" tIns="0" rIns="0" bIns="0" rtlCol="0" anchor="ctr"/>
          <a:lstStyle/>
          <a:p>
            <a:pPr marL="0" indent="0">
              <a:buNone/>
            </a:pPr>
            <a:r>
              <a:rPr lang="en-US" sz="1600" dirty="0">
                <a:solidFill>
                  <a:schemeClr val="bg1"/>
                </a:solidFill>
              </a:rPr>
              <a:t>Runs on IBM LinuxONE (s390x architecture)</a:t>
            </a:r>
            <a:endParaRPr lang="en-US" sz="1600" dirty="0"/>
          </a:p>
        </p:txBody>
      </p:sp>
      <p:sp>
        <p:nvSpPr>
          <p:cNvPr id="7" name="Stack 2 circle"/>
          <p:cNvSpPr/>
          <p:nvPr/>
        </p:nvSpPr>
        <p:spPr>
          <a:xfrm>
            <a:off x="548640" y="2944368"/>
            <a:ext cx="731520" cy="731520"/>
          </a:xfrm>
          <a:prstGeom prst="ellipse">
            <a:avLst/>
          </a:prstGeom>
          <a:solidFill>
            <a:schemeClr val="accent1"/>
          </a:solidFill>
          <a:ln w="12700">
            <a:solidFill>
              <a:schemeClr val="accent1"/>
            </a:solidFill>
            <a:prstDash val="solid"/>
          </a:ln>
        </p:spPr>
        <p:txBody>
          <a:bodyPr/>
          <a:lstStyle/>
          <a:p>
            <a:endParaRPr lang="en-ZA"/>
          </a:p>
        </p:txBody>
      </p:sp>
      <p:pic>
        <p:nvPicPr>
          <p:cNvPr id="8" name="Stack 2 icon" descr="preencoded.png"/>
          <p:cNvPicPr>
            <a:picLocks noChangeAspect="1"/>
          </p:cNvPicPr>
          <p:nvPr/>
        </p:nvPicPr>
        <p:blipFill>
          <a:blip r:embed="rId4"/>
          <a:stretch>
            <a:fillRect/>
          </a:stretch>
        </p:blipFill>
        <p:spPr>
          <a:xfrm>
            <a:off x="738835" y="3134563"/>
            <a:ext cx="351130" cy="351130"/>
          </a:xfrm>
          <a:prstGeom prst="rect">
            <a:avLst/>
          </a:prstGeom>
        </p:spPr>
      </p:pic>
      <p:sp>
        <p:nvSpPr>
          <p:cNvPr id="9" name="Stack text 2"/>
          <p:cNvSpPr txBox="1"/>
          <p:nvPr/>
        </p:nvSpPr>
        <p:spPr>
          <a:xfrm>
            <a:off x="1463040" y="2944368"/>
            <a:ext cx="4206240" cy="731520"/>
          </a:xfrm>
          <a:prstGeom prst="rect">
            <a:avLst/>
          </a:prstGeom>
          <a:noFill/>
          <a:ln/>
        </p:spPr>
        <p:txBody>
          <a:bodyPr wrap="square" lIns="0" tIns="0" rIns="0" bIns="0" rtlCol="0" anchor="ctr"/>
          <a:lstStyle/>
          <a:p>
            <a:pPr marL="0" indent="0">
              <a:buNone/>
            </a:pPr>
            <a:r>
              <a:rPr lang="en-US" sz="1600" dirty="0">
                <a:solidFill>
                  <a:schemeClr val="bg1"/>
                </a:solidFill>
              </a:rPr>
              <a:t>Uvicorn async server, FastAPI endpoints</a:t>
            </a:r>
            <a:endParaRPr lang="en-US" sz="1600" dirty="0"/>
          </a:p>
        </p:txBody>
      </p:sp>
      <p:sp>
        <p:nvSpPr>
          <p:cNvPr id="10" name="Stack 3 circle"/>
          <p:cNvSpPr/>
          <p:nvPr/>
        </p:nvSpPr>
        <p:spPr>
          <a:xfrm>
            <a:off x="548640" y="3968496"/>
            <a:ext cx="731520" cy="731520"/>
          </a:xfrm>
          <a:prstGeom prst="ellipse">
            <a:avLst/>
          </a:prstGeom>
          <a:solidFill>
            <a:schemeClr val="accent1"/>
          </a:solidFill>
          <a:ln w="12700">
            <a:solidFill>
              <a:schemeClr val="accent1"/>
            </a:solidFill>
            <a:prstDash val="solid"/>
          </a:ln>
        </p:spPr>
        <p:txBody>
          <a:bodyPr/>
          <a:lstStyle/>
          <a:p>
            <a:endParaRPr lang="en-ZA"/>
          </a:p>
        </p:txBody>
      </p:sp>
      <p:pic>
        <p:nvPicPr>
          <p:cNvPr id="11" name="Stack 3 icon" descr="preencoded.png"/>
          <p:cNvPicPr>
            <a:picLocks noChangeAspect="1"/>
          </p:cNvPicPr>
          <p:nvPr/>
        </p:nvPicPr>
        <p:blipFill>
          <a:blip r:embed="rId5"/>
          <a:stretch>
            <a:fillRect/>
          </a:stretch>
        </p:blipFill>
        <p:spPr>
          <a:xfrm>
            <a:off x="738835" y="4158691"/>
            <a:ext cx="351130" cy="351130"/>
          </a:xfrm>
          <a:prstGeom prst="rect">
            <a:avLst/>
          </a:prstGeom>
        </p:spPr>
      </p:pic>
      <p:sp>
        <p:nvSpPr>
          <p:cNvPr id="12" name="Stack text 3"/>
          <p:cNvSpPr txBox="1"/>
          <p:nvPr/>
        </p:nvSpPr>
        <p:spPr>
          <a:xfrm>
            <a:off x="1463040" y="3968496"/>
            <a:ext cx="4206240" cy="731520"/>
          </a:xfrm>
          <a:prstGeom prst="rect">
            <a:avLst/>
          </a:prstGeom>
          <a:noFill/>
          <a:ln/>
        </p:spPr>
        <p:txBody>
          <a:bodyPr wrap="square" lIns="0" tIns="0" rIns="0" bIns="0" rtlCol="0" anchor="ctr"/>
          <a:lstStyle/>
          <a:p>
            <a:pPr marL="0" indent="0">
              <a:buNone/>
            </a:pPr>
            <a:r>
              <a:rPr lang="en-US" sz="1600" dirty="0">
                <a:solidFill>
                  <a:schemeClr val="bg1"/>
                </a:solidFill>
              </a:rPr>
              <a:t>Joblib models: multi-hazard classification + regression</a:t>
            </a:r>
            <a:endParaRPr lang="en-US" sz="1600" dirty="0"/>
          </a:p>
        </p:txBody>
      </p:sp>
      <p:sp>
        <p:nvSpPr>
          <p:cNvPr id="13" name="Stack 4 circle"/>
          <p:cNvSpPr/>
          <p:nvPr/>
        </p:nvSpPr>
        <p:spPr>
          <a:xfrm>
            <a:off x="548640" y="4992624"/>
            <a:ext cx="731520" cy="731520"/>
          </a:xfrm>
          <a:prstGeom prst="ellipse">
            <a:avLst/>
          </a:prstGeom>
          <a:solidFill>
            <a:schemeClr val="accent1"/>
          </a:solidFill>
          <a:ln w="12700">
            <a:solidFill>
              <a:schemeClr val="accent1"/>
            </a:solidFill>
            <a:prstDash val="solid"/>
          </a:ln>
        </p:spPr>
        <p:txBody>
          <a:bodyPr/>
          <a:lstStyle/>
          <a:p>
            <a:endParaRPr lang="en-ZA"/>
          </a:p>
        </p:txBody>
      </p:sp>
      <p:pic>
        <p:nvPicPr>
          <p:cNvPr id="14" name="Stack 4 icon" descr="preencoded.png"/>
          <p:cNvPicPr>
            <a:picLocks noChangeAspect="1"/>
          </p:cNvPicPr>
          <p:nvPr/>
        </p:nvPicPr>
        <p:blipFill>
          <a:blip r:embed="rId6"/>
          <a:stretch>
            <a:fillRect/>
          </a:stretch>
        </p:blipFill>
        <p:spPr>
          <a:xfrm>
            <a:off x="738835" y="5182819"/>
            <a:ext cx="351130" cy="351130"/>
          </a:xfrm>
          <a:prstGeom prst="rect">
            <a:avLst/>
          </a:prstGeom>
        </p:spPr>
      </p:pic>
      <p:sp>
        <p:nvSpPr>
          <p:cNvPr id="15" name="Stack text 4"/>
          <p:cNvSpPr txBox="1"/>
          <p:nvPr/>
        </p:nvSpPr>
        <p:spPr>
          <a:xfrm>
            <a:off x="1463040" y="4992624"/>
            <a:ext cx="4206240" cy="731520"/>
          </a:xfrm>
          <a:prstGeom prst="rect">
            <a:avLst/>
          </a:prstGeom>
          <a:noFill/>
          <a:ln/>
        </p:spPr>
        <p:txBody>
          <a:bodyPr wrap="square" lIns="0" tIns="0" rIns="0" bIns="0" rtlCol="0" anchor="ctr"/>
          <a:lstStyle/>
          <a:p>
            <a:pPr marL="0" indent="0">
              <a:buNone/>
            </a:pPr>
            <a:r>
              <a:rPr lang="en-US" sz="1600" dirty="0">
                <a:solidFill>
                  <a:schemeClr val="bg1"/>
                </a:solidFill>
              </a:rPr>
              <a:t>Data stays inside the deployment boundary</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9</a:t>
            </a:fld>
            <a:endParaRPr lang="en-US"/>
          </a:p>
        </p:txBody>
      </p:sp>
      <p:pic>
        <p:nvPicPr>
          <p:cNvPr id="26" name="Screenshot LinuxONE terminal" descr="terminal.png"/>
          <p:cNvPicPr>
            <a:picLocks noChangeAspect="1"/>
          </p:cNvPicPr>
          <p:nvPr/>
        </p:nvPicPr>
        <p:blipFill>
          <a:blip r:embed="rId7"/>
          <a:stretch>
            <a:fillRect/>
          </a:stretch>
        </p:blipFill>
        <p:spPr>
          <a:xfrm>
            <a:off x="6035040" y="1828800"/>
            <a:ext cx="5577840" cy="3429969"/>
          </a:xfrm>
          <a:prstGeom prst="rect">
            <a:avLst/>
          </a:prstGeom>
          <a:ln w="15875">
            <a:solidFill>
              <a:srgbClr val="0B2A6B"/>
            </a:solidFill>
          </a:ln>
        </p:spPr>
      </p:pic>
      <p:sp>
        <p:nvSpPr>
          <p:cNvPr id="27" name="Caption terminal"/>
          <p:cNvSpPr txBox="1"/>
          <p:nvPr/>
        </p:nvSpPr>
        <p:spPr>
          <a:xfrm>
            <a:off x="6035040" y="5440680"/>
            <a:ext cx="5577840" cy="731520"/>
          </a:xfrm>
          <a:prstGeom prst="rect">
            <a:avLst/>
          </a:prstGeom>
          <a:noFill/>
        </p:spPr>
        <p:txBody>
          <a:bodyPr wrap="square" lIns="0" tIns="0" rIns="0" bIns="0" anchor="t">
            <a:spAutoFit/>
          </a:bodyPr>
          <a:lstStyle/>
          <a:p>
            <a:pPr algn="l"/>
            <a:r>
              <a:rPr sz="1300" b="0" i="1">
                <a:solidFill>
                  <a:srgbClr val="F4EBD9"/>
                </a:solidFill>
                <a:latin typeface="Calibri"/>
              </a:rPr>
              <a:t>Evidence from the LinuxONE server: architecture s390x, API healthy, model_loaded true, and a live prediction for burst, fire, flood and damage.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Model results</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each hazard is evaluated on what matters. A missed hazard costs more than a false alarm.</a:t>
            </a:r>
            <a:endParaRPr lang="en-US" sz="1800" dirty="0"/>
          </a:p>
        </p:txBody>
      </p:sp>
      <p:sp>
        <p:nvSpPr>
          <p:cNvPr id="4" name="Metric card 1"/>
          <p:cNvSpPr/>
          <p:nvPr/>
        </p:nvSpPr>
        <p:spPr>
          <a:xfrm>
            <a:off x="548640" y="1920240"/>
            <a:ext cx="2606040" cy="27432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5" name="Metric bar 1"/>
          <p:cNvSpPr/>
          <p:nvPr/>
        </p:nvSpPr>
        <p:spPr>
          <a:xfrm>
            <a:off x="548640" y="1920240"/>
            <a:ext cx="2606040" cy="109728"/>
          </a:xfrm>
          <a:prstGeom prst="rect">
            <a:avLst/>
          </a:prstGeom>
          <a:solidFill>
            <a:schemeClr val="accent1"/>
          </a:solidFill>
          <a:ln w="12700">
            <a:solidFill>
              <a:schemeClr val="accent1"/>
            </a:solidFill>
            <a:prstDash val="solid"/>
          </a:ln>
        </p:spPr>
        <p:txBody>
          <a:bodyPr/>
          <a:lstStyle/>
          <a:p>
            <a:endParaRPr lang="en-ZA"/>
          </a:p>
        </p:txBody>
      </p:sp>
      <p:sp>
        <p:nvSpPr>
          <p:cNvPr id="6" name="Metric name 1"/>
          <p:cNvSpPr txBox="1"/>
          <p:nvPr/>
        </p:nvSpPr>
        <p:spPr>
          <a:xfrm>
            <a:off x="548640" y="2194560"/>
            <a:ext cx="26060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Pipe burst</a:t>
            </a:r>
            <a:endParaRPr lang="en-US" sz="2000" dirty="0"/>
          </a:p>
        </p:txBody>
      </p:sp>
      <p:sp>
        <p:nvSpPr>
          <p:cNvPr id="7" name="Metric values 1"/>
          <p:cNvSpPr txBox="1"/>
          <p:nvPr/>
        </p:nvSpPr>
        <p:spPr>
          <a:xfrm>
            <a:off x="731520" y="2834640"/>
            <a:ext cx="2240280" cy="1645920"/>
          </a:xfrm>
          <a:prstGeom prst="rect">
            <a:avLst/>
          </a:prstGeom>
          <a:noFill/>
          <a:ln/>
        </p:spPr>
        <p:txBody>
          <a:bodyPr wrap="square" lIns="0" tIns="0" rIns="0" bIns="0" rtlCol="0" anchor="ctr"/>
          <a:lstStyle/>
          <a:p>
            <a:pPr marL="0" indent="0" algn="ctr">
              <a:buNone/>
            </a:pPr>
            <a:r>
              <a:rPr lang="en-US" sz="1700" dirty="0">
                <a:solidFill>
                  <a:schemeClr val="tx1"/>
                </a:solidFill>
              </a:rPr>
              <a:t>Precision [21.8%]</a:t>
            </a:r>
            <a:endParaRPr lang="en-US" sz="1700" dirty="0"/>
          </a:p>
          <a:p>
            <a:pPr marL="0" indent="0" algn="ctr">
              <a:buNone/>
            </a:pPr>
            <a:r>
              <a:rPr lang="en-US" sz="1700" dirty="0">
                <a:solidFill>
                  <a:schemeClr val="tx1"/>
                </a:solidFill>
              </a:rPr>
              <a:t>Recall [79.2%]</a:t>
            </a:r>
            <a:endParaRPr lang="en-US" sz="1700" dirty="0"/>
          </a:p>
          <a:p>
            <a:pPr marL="0" indent="0" algn="ctr">
              <a:buNone/>
            </a:pPr>
            <a:r>
              <a:rPr lang="en-US" sz="1700" dirty="0">
                <a:solidFill>
                  <a:schemeClr val="tx1"/>
                </a:solidFill>
              </a:rPr>
              <a:t>F1 [</a:t>
            </a:r>
            <a:r>
              <a:rPr lang="en-US" sz="1700" dirty="0"/>
              <a:t>13</a:t>
            </a:r>
            <a:r>
              <a:rPr lang="en-US" sz="1700" dirty="0">
                <a:solidFill>
                  <a:schemeClr val="tx1"/>
                </a:solidFill>
              </a:rPr>
              <a:t>%]</a:t>
            </a:r>
            <a:endParaRPr lang="en-US" sz="1700" dirty="0"/>
          </a:p>
        </p:txBody>
      </p:sp>
      <p:sp>
        <p:nvSpPr>
          <p:cNvPr id="8" name="Metric card 2"/>
          <p:cNvSpPr/>
          <p:nvPr/>
        </p:nvSpPr>
        <p:spPr>
          <a:xfrm>
            <a:off x="3383280" y="1920240"/>
            <a:ext cx="2606040" cy="27432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9" name="Metric bar 2"/>
          <p:cNvSpPr/>
          <p:nvPr/>
        </p:nvSpPr>
        <p:spPr>
          <a:xfrm>
            <a:off x="3383280" y="1920240"/>
            <a:ext cx="2606040" cy="109728"/>
          </a:xfrm>
          <a:prstGeom prst="rect">
            <a:avLst/>
          </a:prstGeom>
          <a:solidFill>
            <a:schemeClr val="accent1"/>
          </a:solidFill>
          <a:ln w="12700">
            <a:solidFill>
              <a:schemeClr val="accent1"/>
            </a:solidFill>
            <a:prstDash val="solid"/>
          </a:ln>
        </p:spPr>
        <p:txBody>
          <a:bodyPr/>
          <a:lstStyle/>
          <a:p>
            <a:endParaRPr lang="en-ZA"/>
          </a:p>
        </p:txBody>
      </p:sp>
      <p:sp>
        <p:nvSpPr>
          <p:cNvPr id="10" name="Metric name 2"/>
          <p:cNvSpPr txBox="1"/>
          <p:nvPr/>
        </p:nvSpPr>
        <p:spPr>
          <a:xfrm>
            <a:off x="3383280" y="2194560"/>
            <a:ext cx="26060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Fire</a:t>
            </a:r>
            <a:endParaRPr lang="en-US" sz="2000" dirty="0"/>
          </a:p>
        </p:txBody>
      </p:sp>
      <p:sp>
        <p:nvSpPr>
          <p:cNvPr id="11" name="Metric values 2"/>
          <p:cNvSpPr txBox="1"/>
          <p:nvPr/>
        </p:nvSpPr>
        <p:spPr>
          <a:xfrm>
            <a:off x="3566160" y="2834640"/>
            <a:ext cx="2240280" cy="1645920"/>
          </a:xfrm>
          <a:prstGeom prst="rect">
            <a:avLst/>
          </a:prstGeom>
          <a:noFill/>
          <a:ln/>
        </p:spPr>
        <p:txBody>
          <a:bodyPr wrap="square" lIns="0" tIns="0" rIns="0" bIns="0" rtlCol="0" anchor="ctr"/>
          <a:lstStyle/>
          <a:p>
            <a:pPr marL="0" indent="0" algn="ctr">
              <a:buNone/>
            </a:pPr>
            <a:r>
              <a:rPr lang="en-US" sz="1700" dirty="0">
                <a:solidFill>
                  <a:schemeClr val="tx1"/>
                </a:solidFill>
              </a:rPr>
              <a:t>Precision [</a:t>
            </a:r>
            <a:r>
              <a:rPr lang="en-US" sz="1700" dirty="0"/>
              <a:t>28.2</a:t>
            </a:r>
            <a:r>
              <a:rPr lang="en-US" sz="1700" dirty="0">
                <a:solidFill>
                  <a:schemeClr val="tx1"/>
                </a:solidFill>
              </a:rPr>
              <a:t>%]</a:t>
            </a:r>
            <a:endParaRPr lang="en-US" sz="1700" dirty="0"/>
          </a:p>
          <a:p>
            <a:pPr marL="0" indent="0" algn="ctr">
              <a:buNone/>
            </a:pPr>
            <a:r>
              <a:rPr lang="en-US" sz="1700" dirty="0">
                <a:solidFill>
                  <a:schemeClr val="tx1"/>
                </a:solidFill>
              </a:rPr>
              <a:t>Recall [71.8%]</a:t>
            </a:r>
            <a:endParaRPr lang="en-US" sz="1700" dirty="0"/>
          </a:p>
          <a:p>
            <a:pPr marL="0" indent="0" algn="ctr">
              <a:buNone/>
            </a:pPr>
            <a:r>
              <a:rPr lang="en-US" sz="1700" dirty="0">
                <a:solidFill>
                  <a:schemeClr val="tx1"/>
                </a:solidFill>
              </a:rPr>
              <a:t>F1 [</a:t>
            </a:r>
            <a:r>
              <a:rPr lang="en-US" sz="1700" dirty="0"/>
              <a:t>15</a:t>
            </a:r>
            <a:r>
              <a:rPr lang="en-US" sz="1700" dirty="0">
                <a:solidFill>
                  <a:schemeClr val="tx1"/>
                </a:solidFill>
              </a:rPr>
              <a:t>%]</a:t>
            </a:r>
            <a:endParaRPr lang="en-US" sz="1700" dirty="0"/>
          </a:p>
        </p:txBody>
      </p:sp>
      <p:sp>
        <p:nvSpPr>
          <p:cNvPr id="12" name="Metric card 3"/>
          <p:cNvSpPr/>
          <p:nvPr/>
        </p:nvSpPr>
        <p:spPr>
          <a:xfrm>
            <a:off x="6217920" y="1920240"/>
            <a:ext cx="2606040" cy="27432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3" name="Metric bar 3"/>
          <p:cNvSpPr/>
          <p:nvPr/>
        </p:nvSpPr>
        <p:spPr>
          <a:xfrm>
            <a:off x="6217920" y="1920240"/>
            <a:ext cx="2606040" cy="109728"/>
          </a:xfrm>
          <a:prstGeom prst="rect">
            <a:avLst/>
          </a:prstGeom>
          <a:solidFill>
            <a:schemeClr val="accent1"/>
          </a:solidFill>
          <a:ln w="12700">
            <a:solidFill>
              <a:schemeClr val="accent1"/>
            </a:solidFill>
            <a:prstDash val="solid"/>
          </a:ln>
        </p:spPr>
        <p:txBody>
          <a:bodyPr/>
          <a:lstStyle/>
          <a:p>
            <a:endParaRPr lang="en-ZA"/>
          </a:p>
        </p:txBody>
      </p:sp>
      <p:sp>
        <p:nvSpPr>
          <p:cNvPr id="14" name="Metric name 3"/>
          <p:cNvSpPr txBox="1"/>
          <p:nvPr/>
        </p:nvSpPr>
        <p:spPr>
          <a:xfrm>
            <a:off x="6217920" y="2194560"/>
            <a:ext cx="26060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Flood</a:t>
            </a:r>
            <a:endParaRPr lang="en-US" sz="2000" dirty="0"/>
          </a:p>
        </p:txBody>
      </p:sp>
      <p:sp>
        <p:nvSpPr>
          <p:cNvPr id="15" name="Metric values 3"/>
          <p:cNvSpPr txBox="1"/>
          <p:nvPr/>
        </p:nvSpPr>
        <p:spPr>
          <a:xfrm>
            <a:off x="6400800" y="2834640"/>
            <a:ext cx="2240280" cy="1645920"/>
          </a:xfrm>
          <a:prstGeom prst="rect">
            <a:avLst/>
          </a:prstGeom>
          <a:noFill/>
          <a:ln/>
        </p:spPr>
        <p:txBody>
          <a:bodyPr wrap="square" lIns="0" tIns="0" rIns="0" bIns="0" rtlCol="0" anchor="ctr"/>
          <a:lstStyle/>
          <a:p>
            <a:pPr marL="0" indent="0" algn="ctr">
              <a:buNone/>
            </a:pPr>
            <a:r>
              <a:rPr lang="en-US" sz="1700" dirty="0">
                <a:solidFill>
                  <a:schemeClr val="tx1"/>
                </a:solidFill>
              </a:rPr>
              <a:t>Precision [</a:t>
            </a:r>
            <a:r>
              <a:rPr lang="en-US" sz="1700" dirty="0"/>
              <a:t>0.0</a:t>
            </a:r>
            <a:r>
              <a:rPr lang="en-US" sz="1700" dirty="0">
                <a:solidFill>
                  <a:schemeClr val="tx1"/>
                </a:solidFill>
              </a:rPr>
              <a:t>%]</a:t>
            </a:r>
            <a:endParaRPr lang="en-US" sz="1700" dirty="0"/>
          </a:p>
          <a:p>
            <a:pPr marL="0" indent="0" algn="ctr">
              <a:buNone/>
            </a:pPr>
            <a:r>
              <a:rPr lang="en-US" sz="1700" dirty="0">
                <a:solidFill>
                  <a:schemeClr val="tx1"/>
                </a:solidFill>
              </a:rPr>
              <a:t>Recall [</a:t>
            </a:r>
            <a:r>
              <a:rPr lang="en-US" sz="1700" dirty="0"/>
              <a:t>100</a:t>
            </a:r>
            <a:r>
              <a:rPr lang="en-US" sz="1700" dirty="0">
                <a:solidFill>
                  <a:schemeClr val="tx1"/>
                </a:solidFill>
              </a:rPr>
              <a:t>%]</a:t>
            </a:r>
            <a:endParaRPr lang="en-US" sz="1700" dirty="0"/>
          </a:p>
          <a:p>
            <a:pPr marL="0" indent="0" algn="ctr">
              <a:buNone/>
            </a:pPr>
            <a:r>
              <a:rPr lang="en-US" sz="1700" dirty="0">
                <a:solidFill>
                  <a:schemeClr val="tx1"/>
                </a:solidFill>
              </a:rPr>
              <a:t>F1 [</a:t>
            </a:r>
            <a:r>
              <a:rPr lang="en-US" sz="1700" dirty="0"/>
              <a:t>0.0</a:t>
            </a:r>
            <a:r>
              <a:rPr lang="en-US" sz="1700" dirty="0">
                <a:solidFill>
                  <a:schemeClr val="tx1"/>
                </a:solidFill>
              </a:rPr>
              <a:t>%]</a:t>
            </a:r>
            <a:endParaRPr lang="en-US" sz="1700" dirty="0"/>
          </a:p>
        </p:txBody>
      </p:sp>
      <p:sp>
        <p:nvSpPr>
          <p:cNvPr id="16" name="Metric card 4"/>
          <p:cNvSpPr/>
          <p:nvPr/>
        </p:nvSpPr>
        <p:spPr>
          <a:xfrm>
            <a:off x="9052560" y="1920240"/>
            <a:ext cx="2606040" cy="27432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7" name="Metric bar 4"/>
          <p:cNvSpPr/>
          <p:nvPr/>
        </p:nvSpPr>
        <p:spPr>
          <a:xfrm>
            <a:off x="9052560" y="1920240"/>
            <a:ext cx="2606040" cy="109728"/>
          </a:xfrm>
          <a:prstGeom prst="rect">
            <a:avLst/>
          </a:prstGeom>
          <a:solidFill>
            <a:schemeClr val="accent3"/>
          </a:solidFill>
          <a:ln w="12700">
            <a:solidFill>
              <a:schemeClr val="accent3"/>
            </a:solidFill>
            <a:prstDash val="solid"/>
          </a:ln>
        </p:spPr>
        <p:txBody>
          <a:bodyPr/>
          <a:lstStyle/>
          <a:p>
            <a:endParaRPr lang="en-ZA"/>
          </a:p>
        </p:txBody>
      </p:sp>
      <p:sp>
        <p:nvSpPr>
          <p:cNvPr id="18" name="Metric name 4"/>
          <p:cNvSpPr txBox="1"/>
          <p:nvPr/>
        </p:nvSpPr>
        <p:spPr>
          <a:xfrm>
            <a:off x="9052560" y="2194560"/>
            <a:ext cx="26060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Structural damage</a:t>
            </a:r>
            <a:endParaRPr lang="en-US" sz="2000" dirty="0"/>
          </a:p>
        </p:txBody>
      </p:sp>
      <p:sp>
        <p:nvSpPr>
          <p:cNvPr id="19" name="Metric values 4"/>
          <p:cNvSpPr txBox="1"/>
          <p:nvPr/>
        </p:nvSpPr>
        <p:spPr>
          <a:xfrm>
            <a:off x="9235440" y="2834640"/>
            <a:ext cx="2240280" cy="1645920"/>
          </a:xfrm>
          <a:prstGeom prst="rect">
            <a:avLst/>
          </a:prstGeom>
          <a:noFill/>
          <a:ln/>
        </p:spPr>
        <p:txBody>
          <a:bodyPr wrap="square" lIns="0" tIns="0" rIns="0" bIns="0" rtlCol="0" anchor="ctr"/>
          <a:lstStyle/>
          <a:p>
            <a:pPr marL="0" indent="0" algn="ctr">
              <a:buNone/>
            </a:pPr>
            <a:r>
              <a:rPr lang="en-US" sz="1700" dirty="0">
                <a:solidFill>
                  <a:schemeClr val="tx1"/>
                </a:solidFill>
              </a:rPr>
              <a:t>Error (MAE) [</a:t>
            </a:r>
            <a:r>
              <a:rPr lang="en-US" sz="1700" dirty="0"/>
              <a:t>1.3/10</a:t>
            </a:r>
            <a:r>
              <a:rPr lang="en-US" sz="1700" dirty="0">
                <a:solidFill>
                  <a:schemeClr val="tx1"/>
                </a:solidFill>
              </a:rPr>
              <a:t>]</a:t>
            </a:r>
            <a:endParaRPr lang="en-US" sz="1700" dirty="0"/>
          </a:p>
          <a:p>
            <a:pPr marL="0" indent="0" algn="ctr">
              <a:buNone/>
            </a:pPr>
            <a:r>
              <a:rPr lang="en-US" sz="1700" dirty="0">
                <a:solidFill>
                  <a:schemeClr val="tx1"/>
                </a:solidFill>
              </a:rPr>
              <a:t>R2 [8.7</a:t>
            </a:r>
            <a:r>
              <a:rPr lang="en-US" sz="1700" dirty="0"/>
              <a:t>/10</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Explainable predictions</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every hazard prediction can be explained to a commander.</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11</a:t>
            </a:fld>
            <a:endParaRPr lang="en-US"/>
          </a:p>
        </p:txBody>
      </p:sp>
      <p:pic>
        <p:nvPicPr>
          <p:cNvPr id="26" name="Screenshot SHAP" descr="shap.png"/>
          <p:cNvPicPr>
            <a:picLocks noChangeAspect="1"/>
          </p:cNvPicPr>
          <p:nvPr/>
        </p:nvPicPr>
        <p:blipFill>
          <a:blip r:embed="rId2"/>
          <a:stretch>
            <a:fillRect/>
          </a:stretch>
        </p:blipFill>
        <p:spPr>
          <a:xfrm>
            <a:off x="548640" y="1828800"/>
            <a:ext cx="6949440" cy="3516584"/>
          </a:xfrm>
          <a:prstGeom prst="rect">
            <a:avLst/>
          </a:prstGeom>
          <a:ln w="15875">
            <a:solidFill>
              <a:srgbClr val="0B2A6B"/>
            </a:solidFill>
          </a:ln>
        </p:spPr>
      </p:pic>
      <p:sp>
        <p:nvSpPr>
          <p:cNvPr id="27" name="Explain heading"/>
          <p:cNvSpPr txBox="1"/>
          <p:nvPr/>
        </p:nvSpPr>
        <p:spPr>
          <a:xfrm>
            <a:off x="7863840" y="1828800"/>
            <a:ext cx="3749039" cy="365760"/>
          </a:xfrm>
          <a:prstGeom prst="rect">
            <a:avLst/>
          </a:prstGeom>
          <a:noFill/>
        </p:spPr>
        <p:txBody>
          <a:bodyPr wrap="square" lIns="0" tIns="0" rIns="0" bIns="0" anchor="t">
            <a:spAutoFit/>
          </a:bodyPr>
          <a:lstStyle/>
          <a:p>
            <a:pPr algn="l"/>
            <a:r>
              <a:rPr sz="2000" b="1" i="0">
                <a:solidFill>
                  <a:srgbClr val="0B2A6B"/>
                </a:solidFill>
                <a:latin typeface="Cambria"/>
              </a:rPr>
              <a:t>What the charts show</a:t>
            </a:r>
          </a:p>
        </p:txBody>
      </p:sp>
      <p:sp>
        <p:nvSpPr>
          <p:cNvPr id="28" name="Explain text"/>
          <p:cNvSpPr txBox="1"/>
          <p:nvPr/>
        </p:nvSpPr>
        <p:spPr>
          <a:xfrm>
            <a:off x="7863840" y="2377440"/>
            <a:ext cx="3749039" cy="3291840"/>
          </a:xfrm>
          <a:prstGeom prst="rect">
            <a:avLst/>
          </a:prstGeom>
          <a:noFill/>
        </p:spPr>
        <p:txBody>
          <a:bodyPr wrap="square" lIns="0" tIns="0" rIns="0" bIns="0" anchor="t">
            <a:spAutoFit/>
          </a:bodyPr>
          <a:lstStyle/>
          <a:p>
            <a:pPr algn="l">
              <a:spcAft>
                <a:spcPts val="800"/>
              </a:spcAft>
            </a:pPr>
            <a:r>
              <a:rPr sz="1500" b="0" i="0">
                <a:solidFill>
                  <a:srgbClr val="0B2A6B"/>
                </a:solidFill>
                <a:latin typeface="Calibri"/>
              </a:rPr>
              <a:t>Each hazard has its own model.</a:t>
            </a:r>
          </a:p>
          <a:p>
            <a:pPr algn="l">
              <a:spcAft>
                <a:spcPts val="800"/>
              </a:spcAft>
            </a:pPr>
            <a:r>
              <a:rPr sz="1500" b="0" i="0">
                <a:solidFill>
                  <a:srgbClr val="0B2A6B"/>
                </a:solidFill>
                <a:latin typeface="Calibri"/>
              </a:rPr>
              <a:t>Pipe burst: shaking, magnitude and pipe age push risk up the most.</a:t>
            </a:r>
          </a:p>
          <a:p>
            <a:pPr algn="l">
              <a:spcAft>
                <a:spcPts val="800"/>
              </a:spcAft>
            </a:pPr>
            <a:r>
              <a:rPr sz="1500" b="0" i="0">
                <a:solidFill>
                  <a:srgbClr val="0B2A6B"/>
                </a:solidFill>
                <a:latin typeface="Calibri"/>
              </a:rPr>
              <a:t>Fire: shaking, distance to a gas main and building age matter most.</a:t>
            </a:r>
          </a:p>
          <a:p>
            <a:pPr algn="l">
              <a:spcAft>
                <a:spcPts val="800"/>
              </a:spcAft>
            </a:pPr>
            <a:r>
              <a:rPr sz="1500" b="0" i="0">
                <a:solidFill>
                  <a:srgbClr val="0B2A6B"/>
                </a:solidFill>
                <a:latin typeface="Calibri"/>
              </a:rPr>
              <a:t>SHAP charts show which factors raised or lowered each score, so a commander can see why a zone was flagged.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Responsible AI</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tx1"/>
                </a:solidFill>
              </a:rPr>
              <a:t>Must prove: people stay in control, and we are honest about limits.</a:t>
            </a:r>
            <a:endParaRPr lang="en-US" sz="1800" dirty="0"/>
          </a:p>
        </p:txBody>
      </p:sp>
      <p:sp>
        <p:nvSpPr>
          <p:cNvPr id="4" name="RAI card 1"/>
          <p:cNvSpPr/>
          <p:nvPr/>
        </p:nvSpPr>
        <p:spPr>
          <a:xfrm>
            <a:off x="548640" y="1874520"/>
            <a:ext cx="5440680" cy="18288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5" name="RAI 1 circle"/>
          <p:cNvSpPr/>
          <p:nvPr/>
        </p:nvSpPr>
        <p:spPr>
          <a:xfrm>
            <a:off x="822960" y="2331720"/>
            <a:ext cx="868680" cy="868680"/>
          </a:xfrm>
          <a:prstGeom prst="ellipse">
            <a:avLst/>
          </a:prstGeom>
          <a:solidFill>
            <a:schemeClr val="accent1"/>
          </a:solidFill>
          <a:ln w="12700">
            <a:solidFill>
              <a:schemeClr val="accent1"/>
            </a:solidFill>
            <a:prstDash val="solid"/>
          </a:ln>
        </p:spPr>
        <p:txBody>
          <a:bodyPr/>
          <a:lstStyle/>
          <a:p>
            <a:endParaRPr lang="en-ZA"/>
          </a:p>
        </p:txBody>
      </p:sp>
      <p:pic>
        <p:nvPicPr>
          <p:cNvPr id="6" name="RAI 1 icon" descr="preencoded.png"/>
          <p:cNvPicPr>
            <a:picLocks noChangeAspect="1"/>
          </p:cNvPicPr>
          <p:nvPr/>
        </p:nvPicPr>
        <p:blipFill>
          <a:blip r:embed="rId3"/>
          <a:stretch>
            <a:fillRect/>
          </a:stretch>
        </p:blipFill>
        <p:spPr>
          <a:xfrm>
            <a:off x="1048817" y="2557577"/>
            <a:ext cx="416966" cy="416966"/>
          </a:xfrm>
          <a:prstGeom prst="rect">
            <a:avLst/>
          </a:prstGeom>
        </p:spPr>
      </p:pic>
      <p:sp>
        <p:nvSpPr>
          <p:cNvPr id="7" name="RAI title 1"/>
          <p:cNvSpPr txBox="1"/>
          <p:nvPr/>
        </p:nvSpPr>
        <p:spPr>
          <a:xfrm>
            <a:off x="1920240" y="2103120"/>
            <a:ext cx="38404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Human in the loop</a:t>
            </a:r>
            <a:endParaRPr lang="en-US" sz="2000" dirty="0"/>
          </a:p>
        </p:txBody>
      </p:sp>
      <p:sp>
        <p:nvSpPr>
          <p:cNvPr id="8" name="RAI text 1"/>
          <p:cNvSpPr txBox="1"/>
          <p:nvPr/>
        </p:nvSpPr>
        <p:spPr>
          <a:xfrm>
            <a:off x="1920240" y="2606040"/>
            <a:ext cx="3840480" cy="914400"/>
          </a:xfrm>
          <a:prstGeom prst="rect">
            <a:avLst/>
          </a:prstGeom>
          <a:noFill/>
          <a:ln/>
        </p:spPr>
        <p:txBody>
          <a:bodyPr wrap="square" lIns="0" tIns="0" rIns="0" bIns="0" rtlCol="0" anchor="ctr"/>
          <a:lstStyle/>
          <a:p>
            <a:pPr marL="0" indent="0">
              <a:buNone/>
            </a:pPr>
            <a:r>
              <a:rPr lang="en-US" sz="1400" dirty="0">
                <a:solidFill>
                  <a:schemeClr val="tx1"/>
                </a:solidFill>
              </a:rPr>
              <a:t>No directive runs without commander approval; override is always available.</a:t>
            </a:r>
            <a:endParaRPr lang="en-US" sz="1400" dirty="0"/>
          </a:p>
        </p:txBody>
      </p:sp>
      <p:sp>
        <p:nvSpPr>
          <p:cNvPr id="9" name="RAI card 2"/>
          <p:cNvSpPr/>
          <p:nvPr/>
        </p:nvSpPr>
        <p:spPr>
          <a:xfrm>
            <a:off x="6172200" y="1874520"/>
            <a:ext cx="5440680" cy="18288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0" name="RAI 2 circle"/>
          <p:cNvSpPr/>
          <p:nvPr/>
        </p:nvSpPr>
        <p:spPr>
          <a:xfrm>
            <a:off x="6446520" y="2331720"/>
            <a:ext cx="868680" cy="868680"/>
          </a:xfrm>
          <a:prstGeom prst="ellipse">
            <a:avLst/>
          </a:prstGeom>
          <a:solidFill>
            <a:schemeClr val="accent1"/>
          </a:solidFill>
          <a:ln w="12700">
            <a:solidFill>
              <a:schemeClr val="accent1"/>
            </a:solidFill>
            <a:prstDash val="solid"/>
          </a:ln>
        </p:spPr>
        <p:txBody>
          <a:bodyPr/>
          <a:lstStyle/>
          <a:p>
            <a:endParaRPr lang="en-ZA"/>
          </a:p>
        </p:txBody>
      </p:sp>
      <p:pic>
        <p:nvPicPr>
          <p:cNvPr id="11" name="RAI 2 icon" descr="preencoded.png"/>
          <p:cNvPicPr>
            <a:picLocks noChangeAspect="1"/>
          </p:cNvPicPr>
          <p:nvPr/>
        </p:nvPicPr>
        <p:blipFill>
          <a:blip r:embed="rId4"/>
          <a:stretch>
            <a:fillRect/>
          </a:stretch>
        </p:blipFill>
        <p:spPr>
          <a:xfrm>
            <a:off x="6672377" y="2557577"/>
            <a:ext cx="416966" cy="416966"/>
          </a:xfrm>
          <a:prstGeom prst="rect">
            <a:avLst/>
          </a:prstGeom>
        </p:spPr>
      </p:pic>
      <p:sp>
        <p:nvSpPr>
          <p:cNvPr id="12" name="RAI title 2"/>
          <p:cNvSpPr txBox="1"/>
          <p:nvPr/>
        </p:nvSpPr>
        <p:spPr>
          <a:xfrm>
            <a:off x="7543800" y="2103120"/>
            <a:ext cx="38404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Transparent</a:t>
            </a:r>
            <a:endParaRPr lang="en-US" sz="2000" dirty="0"/>
          </a:p>
        </p:txBody>
      </p:sp>
      <p:sp>
        <p:nvSpPr>
          <p:cNvPr id="13" name="RAI text 2"/>
          <p:cNvSpPr txBox="1"/>
          <p:nvPr/>
        </p:nvSpPr>
        <p:spPr>
          <a:xfrm>
            <a:off x="7543800" y="2606040"/>
            <a:ext cx="3840480" cy="914400"/>
          </a:xfrm>
          <a:prstGeom prst="rect">
            <a:avLst/>
          </a:prstGeom>
          <a:noFill/>
          <a:ln/>
        </p:spPr>
        <p:txBody>
          <a:bodyPr wrap="square" lIns="0" tIns="0" rIns="0" bIns="0" rtlCol="0" anchor="ctr"/>
          <a:lstStyle/>
          <a:p>
            <a:pPr marL="0" indent="0">
              <a:buNone/>
            </a:pPr>
            <a:r>
              <a:rPr lang="en-US" sz="1400" dirty="0">
                <a:solidFill>
                  <a:schemeClr val="tx1"/>
                </a:solidFill>
              </a:rPr>
              <a:t>Every directive shows a confidence score and top contributing factors.</a:t>
            </a:r>
            <a:endParaRPr lang="en-US" sz="1400" dirty="0"/>
          </a:p>
        </p:txBody>
      </p:sp>
      <p:sp>
        <p:nvSpPr>
          <p:cNvPr id="14" name="RAI card 3"/>
          <p:cNvSpPr/>
          <p:nvPr/>
        </p:nvSpPr>
        <p:spPr>
          <a:xfrm>
            <a:off x="548640" y="3886200"/>
            <a:ext cx="5440680" cy="18288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15" name="RAI 3 circle"/>
          <p:cNvSpPr/>
          <p:nvPr/>
        </p:nvSpPr>
        <p:spPr>
          <a:xfrm>
            <a:off x="822960" y="4343400"/>
            <a:ext cx="868680" cy="868680"/>
          </a:xfrm>
          <a:prstGeom prst="ellipse">
            <a:avLst/>
          </a:prstGeom>
          <a:solidFill>
            <a:schemeClr val="accent1"/>
          </a:solidFill>
          <a:ln w="12700">
            <a:solidFill>
              <a:schemeClr val="accent1"/>
            </a:solidFill>
            <a:prstDash val="solid"/>
          </a:ln>
        </p:spPr>
        <p:txBody>
          <a:bodyPr/>
          <a:lstStyle/>
          <a:p>
            <a:endParaRPr lang="en-ZA"/>
          </a:p>
        </p:txBody>
      </p:sp>
      <p:pic>
        <p:nvPicPr>
          <p:cNvPr id="16" name="RAI 3 icon" descr="preencoded.png"/>
          <p:cNvPicPr>
            <a:picLocks noChangeAspect="1"/>
          </p:cNvPicPr>
          <p:nvPr/>
        </p:nvPicPr>
        <p:blipFill>
          <a:blip r:embed="rId5"/>
          <a:stretch>
            <a:fillRect/>
          </a:stretch>
        </p:blipFill>
        <p:spPr>
          <a:xfrm>
            <a:off x="1048817" y="4569257"/>
            <a:ext cx="416966" cy="416966"/>
          </a:xfrm>
          <a:prstGeom prst="rect">
            <a:avLst/>
          </a:prstGeom>
        </p:spPr>
      </p:pic>
      <p:sp>
        <p:nvSpPr>
          <p:cNvPr id="17" name="RAI title 3"/>
          <p:cNvSpPr txBox="1"/>
          <p:nvPr/>
        </p:nvSpPr>
        <p:spPr>
          <a:xfrm>
            <a:off x="1920240" y="4114800"/>
            <a:ext cx="38404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Privacy first</a:t>
            </a:r>
            <a:endParaRPr lang="en-US" sz="2000" dirty="0"/>
          </a:p>
        </p:txBody>
      </p:sp>
      <p:sp>
        <p:nvSpPr>
          <p:cNvPr id="18" name="RAI text 3"/>
          <p:cNvSpPr txBox="1"/>
          <p:nvPr/>
        </p:nvSpPr>
        <p:spPr>
          <a:xfrm>
            <a:off x="1920240" y="4617720"/>
            <a:ext cx="3840480" cy="914400"/>
          </a:xfrm>
          <a:prstGeom prst="rect">
            <a:avLst/>
          </a:prstGeom>
          <a:noFill/>
          <a:ln/>
        </p:spPr>
        <p:txBody>
          <a:bodyPr wrap="square" lIns="0" tIns="0" rIns="0" bIns="0" rtlCol="0" anchor="ctr"/>
          <a:lstStyle/>
          <a:p>
            <a:pPr marL="0" indent="0">
              <a:buNone/>
            </a:pPr>
            <a:r>
              <a:rPr lang="en-US" sz="1400" dirty="0">
                <a:solidFill>
                  <a:schemeClr val="tx1"/>
                </a:solidFill>
              </a:rPr>
              <a:t>Public, infrastructure-level data only. No personal data.</a:t>
            </a:r>
            <a:endParaRPr lang="en-US" sz="1400" dirty="0"/>
          </a:p>
        </p:txBody>
      </p:sp>
      <p:sp>
        <p:nvSpPr>
          <p:cNvPr id="19" name="RAI card 4"/>
          <p:cNvSpPr/>
          <p:nvPr/>
        </p:nvSpPr>
        <p:spPr>
          <a:xfrm>
            <a:off x="6172200" y="3886200"/>
            <a:ext cx="5440680" cy="1828800"/>
          </a:xfrm>
          <a:prstGeom prst="rect">
            <a:avLst/>
          </a:prstGeom>
          <a:solidFill>
            <a:schemeClr val="bg1"/>
          </a:solidFill>
          <a:ln/>
          <a:effectLst>
            <a:outerShdw blurRad="76200" dist="25400" dir="5400000" algn="bl" rotWithShape="0">
              <a:srgbClr val="000000">
                <a:alpha val="15000"/>
              </a:srgbClr>
            </a:outerShdw>
          </a:effectLst>
        </p:spPr>
        <p:txBody>
          <a:bodyPr/>
          <a:lstStyle/>
          <a:p>
            <a:endParaRPr lang="en-ZA"/>
          </a:p>
        </p:txBody>
      </p:sp>
      <p:sp>
        <p:nvSpPr>
          <p:cNvPr id="20" name="RAI 4 circle"/>
          <p:cNvSpPr/>
          <p:nvPr/>
        </p:nvSpPr>
        <p:spPr>
          <a:xfrm>
            <a:off x="6446520" y="4343400"/>
            <a:ext cx="868680" cy="868680"/>
          </a:xfrm>
          <a:prstGeom prst="ellipse">
            <a:avLst/>
          </a:prstGeom>
          <a:solidFill>
            <a:schemeClr val="accent1"/>
          </a:solidFill>
          <a:ln w="12700">
            <a:solidFill>
              <a:schemeClr val="accent1"/>
            </a:solidFill>
            <a:prstDash val="solid"/>
          </a:ln>
        </p:spPr>
        <p:txBody>
          <a:bodyPr/>
          <a:lstStyle/>
          <a:p>
            <a:endParaRPr lang="en-ZA"/>
          </a:p>
        </p:txBody>
      </p:sp>
      <p:pic>
        <p:nvPicPr>
          <p:cNvPr id="21" name="RAI 4 icon" descr="preencoded.png"/>
          <p:cNvPicPr>
            <a:picLocks noChangeAspect="1"/>
          </p:cNvPicPr>
          <p:nvPr/>
        </p:nvPicPr>
        <p:blipFill>
          <a:blip r:embed="rId6"/>
          <a:stretch>
            <a:fillRect/>
          </a:stretch>
        </p:blipFill>
        <p:spPr>
          <a:xfrm>
            <a:off x="6672377" y="4569257"/>
            <a:ext cx="416966" cy="416966"/>
          </a:xfrm>
          <a:prstGeom prst="rect">
            <a:avLst/>
          </a:prstGeom>
        </p:spPr>
      </p:pic>
      <p:sp>
        <p:nvSpPr>
          <p:cNvPr id="22" name="RAI title 4"/>
          <p:cNvSpPr txBox="1"/>
          <p:nvPr/>
        </p:nvSpPr>
        <p:spPr>
          <a:xfrm>
            <a:off x="7543800" y="4114800"/>
            <a:ext cx="38404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Honest scope</a:t>
            </a:r>
            <a:endParaRPr lang="en-US" sz="2000" dirty="0"/>
          </a:p>
        </p:txBody>
      </p:sp>
      <p:sp>
        <p:nvSpPr>
          <p:cNvPr id="23" name="RAI text 4"/>
          <p:cNvSpPr txBox="1"/>
          <p:nvPr/>
        </p:nvSpPr>
        <p:spPr>
          <a:xfrm>
            <a:off x="7543800" y="4617720"/>
            <a:ext cx="3840480" cy="914400"/>
          </a:xfrm>
          <a:prstGeom prst="rect">
            <a:avLst/>
          </a:prstGeom>
          <a:noFill/>
          <a:ln/>
        </p:spPr>
        <p:txBody>
          <a:bodyPr wrap="square" lIns="0" tIns="0" rIns="0" bIns="0" rtlCol="0" anchor="ctr"/>
          <a:lstStyle/>
          <a:p>
            <a:pPr marL="0" indent="0">
              <a:buNone/>
            </a:pPr>
            <a:r>
              <a:rPr lang="en-US" sz="1400" dirty="0">
                <a:solidFill>
                  <a:schemeClr val="tx1"/>
                </a:solidFill>
              </a:rPr>
              <a:t>Data is simulated, map coverage varies, and evacuation routes cannot see live traffic.</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lide title"/>
          <p:cNvSpPr txBox="1"/>
          <p:nvPr/>
        </p:nvSpPr>
        <p:spPr>
          <a:xfrm>
            <a:off x="548640" y="365760"/>
            <a:ext cx="8229600" cy="82296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Impact and limits</a:t>
            </a:r>
            <a:endParaRPr lang="en-US" sz="3600" dirty="0"/>
          </a:p>
        </p:txBody>
      </p:sp>
      <p:sp>
        <p:nvSpPr>
          <p:cNvPr id="3" name="Must prove"/>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i="1" dirty="0">
                <a:solidFill>
                  <a:schemeClr val="bg2"/>
                </a:solidFill>
              </a:rPr>
              <a:t>Must prove: faster coordinated action in the first minutes, and we know what we have not proven.</a:t>
            </a:r>
            <a:endParaRPr lang="en-US" sz="1800" dirty="0"/>
          </a:p>
        </p:txBody>
      </p:sp>
      <p:sp>
        <p:nvSpPr>
          <p:cNvPr id="4" name="Impact card"/>
          <p:cNvSpPr/>
          <p:nvPr/>
        </p:nvSpPr>
        <p:spPr>
          <a:xfrm>
            <a:off x="548640" y="1920240"/>
            <a:ext cx="5440680" cy="3128838"/>
          </a:xfrm>
          <a:prstGeom prst="rect">
            <a:avLst/>
          </a:prstGeom>
          <a:solidFill>
            <a:schemeClr val="bg1"/>
          </a:solidFill>
          <a:ln/>
        </p:spPr>
        <p:txBody>
          <a:bodyPr/>
          <a:lstStyle/>
          <a:p>
            <a:endParaRPr lang="en-ZA"/>
          </a:p>
        </p:txBody>
      </p:sp>
      <p:sp>
        <p:nvSpPr>
          <p:cNvPr id="5" name="Impact heading"/>
          <p:cNvSpPr txBox="1"/>
          <p:nvPr/>
        </p:nvSpPr>
        <p:spPr>
          <a:xfrm>
            <a:off x="822960" y="2103120"/>
            <a:ext cx="4846320" cy="45720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Impact</a:t>
            </a:r>
            <a:endParaRPr lang="en-US" sz="2200" dirty="0"/>
          </a:p>
        </p:txBody>
      </p:sp>
      <p:sp>
        <p:nvSpPr>
          <p:cNvPr id="6" name="Impact list"/>
          <p:cNvSpPr txBox="1"/>
          <p:nvPr/>
        </p:nvSpPr>
        <p:spPr>
          <a:xfrm>
            <a:off x="822960" y="2651760"/>
            <a:ext cx="4846320" cy="2317805"/>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One prioritised view of cascading risk</a:t>
            </a:r>
            <a:endParaRPr lang="en-US" sz="1600" dirty="0"/>
          </a:p>
          <a:p>
            <a:pPr marL="342900" indent="-342900">
              <a:spcAft>
                <a:spcPts val="800"/>
              </a:spcAft>
              <a:buSzPct val="100000"/>
              <a:buChar char="•"/>
            </a:pPr>
            <a:r>
              <a:rPr lang="en-US" sz="1600" dirty="0">
                <a:solidFill>
                  <a:schemeClr val="tx1"/>
                </a:solidFill>
              </a:rPr>
              <a:t>Faster utility isolation</a:t>
            </a:r>
            <a:endParaRPr lang="en-US" sz="1600" dirty="0"/>
          </a:p>
          <a:p>
            <a:pPr marL="342900" indent="-342900">
              <a:spcAft>
                <a:spcPts val="800"/>
              </a:spcAft>
              <a:buSzPct val="100000"/>
              <a:buChar char="•"/>
            </a:pPr>
            <a:r>
              <a:rPr lang="en-US" sz="1600" dirty="0">
                <a:solidFill>
                  <a:schemeClr val="tx1"/>
                </a:solidFill>
              </a:rPr>
              <a:t>Safer ambulance routing</a:t>
            </a:r>
            <a:endParaRPr lang="en-US" sz="1600" dirty="0"/>
          </a:p>
          <a:p>
            <a:pPr marL="342900" indent="-342900">
              <a:spcAft>
                <a:spcPts val="800"/>
              </a:spcAft>
              <a:buSzPct val="100000"/>
              <a:buChar char="•"/>
            </a:pPr>
            <a:r>
              <a:rPr lang="en-US" sz="1600" dirty="0">
                <a:solidFill>
                  <a:schemeClr val="tx1"/>
                </a:solidFill>
              </a:rPr>
              <a:t>Safer evacuation routes for citizens</a:t>
            </a:r>
            <a:endParaRPr lang="en-US" sz="1600" dirty="0"/>
          </a:p>
          <a:p>
            <a:pPr marL="342900" indent="-342900">
              <a:spcAft>
                <a:spcPts val="800"/>
              </a:spcAft>
              <a:buSzPct val="100000"/>
              <a:buChar char="•"/>
            </a:pPr>
            <a:endParaRPr lang="en-US" sz="1600" dirty="0"/>
          </a:p>
        </p:txBody>
      </p:sp>
      <p:sp>
        <p:nvSpPr>
          <p:cNvPr id="7" name="Limits card"/>
          <p:cNvSpPr/>
          <p:nvPr/>
        </p:nvSpPr>
        <p:spPr>
          <a:xfrm>
            <a:off x="6199632" y="1920240"/>
            <a:ext cx="5440680" cy="3128838"/>
          </a:xfrm>
          <a:prstGeom prst="rect">
            <a:avLst/>
          </a:prstGeom>
          <a:solidFill>
            <a:schemeClr val="bg1"/>
          </a:solidFill>
          <a:ln/>
        </p:spPr>
        <p:txBody>
          <a:bodyPr/>
          <a:lstStyle/>
          <a:p>
            <a:endParaRPr lang="en-ZA"/>
          </a:p>
        </p:txBody>
      </p:sp>
      <p:sp>
        <p:nvSpPr>
          <p:cNvPr id="8" name="Limits heading"/>
          <p:cNvSpPr txBox="1"/>
          <p:nvPr/>
        </p:nvSpPr>
        <p:spPr>
          <a:xfrm>
            <a:off x="6473952" y="2103120"/>
            <a:ext cx="4846320" cy="457200"/>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Honest limits</a:t>
            </a:r>
            <a:endParaRPr lang="en-US" sz="2200" dirty="0"/>
          </a:p>
        </p:txBody>
      </p:sp>
      <p:sp>
        <p:nvSpPr>
          <p:cNvPr id="9" name="Limits list"/>
          <p:cNvSpPr txBox="1"/>
          <p:nvPr/>
        </p:nvSpPr>
        <p:spPr>
          <a:xfrm>
            <a:off x="6473952" y="2651760"/>
            <a:ext cx="4846320" cy="2317805"/>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Synthetic utility data</a:t>
            </a:r>
            <a:endParaRPr lang="en-US" sz="1600" dirty="0"/>
          </a:p>
          <a:p>
            <a:pPr marL="342900" indent="-342900">
              <a:spcAft>
                <a:spcPts val="800"/>
              </a:spcAft>
              <a:buSzPct val="100000"/>
              <a:buChar char="•"/>
            </a:pPr>
            <a:r>
              <a:rPr lang="en-US" sz="1600" dirty="0">
                <a:solidFill>
                  <a:schemeClr val="tx1"/>
                </a:solidFill>
              </a:rPr>
              <a:t>Single-city demonstration area</a:t>
            </a:r>
            <a:endParaRPr lang="en-US" sz="1600" dirty="0"/>
          </a:p>
          <a:p>
            <a:pPr marL="342900" indent="-342900">
              <a:spcAft>
                <a:spcPts val="800"/>
              </a:spcAft>
              <a:buSzPct val="100000"/>
              <a:buChar char="•"/>
            </a:pPr>
            <a:r>
              <a:rPr lang="en-US" sz="1600" dirty="0">
                <a:solidFill>
                  <a:schemeClr val="tx1"/>
                </a:solidFill>
              </a:rPr>
              <a:t>No live link to real utility control systems</a:t>
            </a:r>
            <a:endParaRPr lang="en-US" sz="1600" dirty="0"/>
          </a:p>
          <a:p>
            <a:pPr marL="342900" indent="-342900">
              <a:spcAft>
                <a:spcPts val="800"/>
              </a:spcAft>
              <a:buSzPct val="100000"/>
              <a:buChar char="•"/>
            </a:pPr>
            <a:r>
              <a:rPr lang="en-US" sz="1600" dirty="0">
                <a:solidFill>
                  <a:schemeClr val="tx1"/>
                </a:solidFill>
              </a:rPr>
              <a:t>No live traffic or crowd data for evacuation</a:t>
            </a:r>
            <a:endParaRPr lang="en-US" sz="1600" dirty="0"/>
          </a:p>
          <a:p>
            <a:pPr marL="342900" indent="-342900">
              <a:spcAft>
                <a:spcPts val="800"/>
              </a:spcAft>
              <a:buSzPct val="100000"/>
              <a:buChar char="•"/>
            </a:pPr>
            <a:r>
              <a:rPr lang="en-US" sz="1600" dirty="0">
                <a:solidFill>
                  <a:schemeClr val="tx1"/>
                </a:solidFill>
              </a:rPr>
              <a:t>Decision support, not a prediction of record</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13</a:t>
            </a:fld>
            <a:endParaRPr lang="en-US"/>
          </a:p>
        </p:txBody>
      </p:sp>
      <p:sp>
        <p:nvSpPr>
          <p:cNvPr id="10" name="TextBox 9">
            <a:extLst>
              <a:ext uri="{FF2B5EF4-FFF2-40B4-BE49-F238E27FC236}">
                <a16:creationId xmlns:a16="http://schemas.microsoft.com/office/drawing/2014/main" id="{95400DC3-24D4-D408-DB9E-20CCF5CE4009}"/>
              </a:ext>
            </a:extLst>
          </p:cNvPr>
          <p:cNvSpPr txBox="1"/>
          <p:nvPr/>
        </p:nvSpPr>
        <p:spPr>
          <a:xfrm>
            <a:off x="548641" y="5212080"/>
            <a:ext cx="11091672" cy="1097280"/>
          </a:xfrm>
          <a:prstGeom prst="rect">
            <a:avLst/>
          </a:prstGeom>
          <a:noFill/>
        </p:spPr>
        <p:txBody>
          <a:bodyPr wrap="square" rtlCol="0">
            <a:noAutofit/>
          </a:bodyPr>
          <a:lstStyle/>
          <a:p>
            <a:r>
              <a:rPr lang="en-US" sz="1400" dirty="0">
                <a:solidFill>
                  <a:srgbClr val="F4EBD9"/>
                </a:solidFill>
              </a:rPr>
              <a:t>QuakeFix targets the critical first minutes after a seismic event, when coordination matters most. One prioritized view of cascading risk means faster utility isolation, safer ambulance routing, and less exposure to secondary hazards. When cellular networks fail, compressed SMS and CSV summaries keep priority actions flowing to field teams.</a:t>
            </a:r>
            <a:endParaRPr lang="en-ZA"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txBox="1"/>
          <p:nvPr/>
        </p:nvSpPr>
        <p:spPr>
          <a:xfrm>
            <a:off x="548640" y="365760"/>
            <a:ext cx="8229600" cy="822960"/>
          </a:xfrm>
          <a:prstGeom prst="rect">
            <a:avLst/>
          </a:prstGeom>
          <a:noFill/>
        </p:spPr>
        <p:txBody>
          <a:bodyPr wrap="square" lIns="0" tIns="0" rIns="0" bIns="0" anchor="ctr">
            <a:spAutoFit/>
          </a:bodyPr>
          <a:lstStyle/>
          <a:p>
            <a:pPr algn="l"/>
            <a:r>
              <a:rPr sz="3600" b="1" i="0">
                <a:solidFill>
                  <a:srgbClr val="FFFFFF"/>
                </a:solidFill>
                <a:latin typeface="Cambria"/>
              </a:rPr>
              <a:t>Meet Team Byte Debuggers</a:t>
            </a:r>
          </a:p>
        </p:txBody>
      </p:sp>
      <p:sp>
        <p:nvSpPr>
          <p:cNvPr id="3" name="Subtitle"/>
          <p:cNvSpPr txBox="1"/>
          <p:nvPr/>
        </p:nvSpPr>
        <p:spPr>
          <a:xfrm>
            <a:off x="548640" y="1188720"/>
            <a:ext cx="11064240" cy="457200"/>
          </a:xfrm>
          <a:prstGeom prst="rect">
            <a:avLst/>
          </a:prstGeom>
          <a:noFill/>
        </p:spPr>
        <p:txBody>
          <a:bodyPr wrap="square" lIns="0" tIns="0" rIns="0" bIns="0" anchor="t">
            <a:spAutoFit/>
          </a:bodyPr>
          <a:lstStyle/>
          <a:p>
            <a:pPr algn="l"/>
            <a:r>
              <a:rPr sz="1800" b="0" i="1">
                <a:solidFill>
                  <a:srgbClr val="F4EBD9"/>
                </a:solidFill>
                <a:latin typeface="Calibri"/>
              </a:rPr>
              <a:t>Five members, one pipeline from data to decision.</a:t>
            </a:r>
          </a:p>
        </p:txBody>
      </p:sp>
      <p:sp>
        <p:nvSpPr>
          <p:cNvPr id="4" name="Team card 1"/>
          <p:cNvSpPr/>
          <p:nvPr/>
        </p:nvSpPr>
        <p:spPr>
          <a:xfrm>
            <a:off x="548640" y="210312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am bar 1"/>
          <p:cNvSpPr/>
          <p:nvPr/>
        </p:nvSpPr>
        <p:spPr>
          <a:xfrm>
            <a:off x="548640" y="2103120"/>
            <a:ext cx="2103120" cy="109728"/>
          </a:xfrm>
          <a:prstGeom prst="rect">
            <a:avLst/>
          </a:prstGeom>
          <a:solidFill>
            <a:srgbClr val="1FA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am name 1"/>
          <p:cNvSpPr txBox="1"/>
          <p:nvPr/>
        </p:nvSpPr>
        <p:spPr>
          <a:xfrm>
            <a:off x="685800" y="2468880"/>
            <a:ext cx="1828800" cy="914400"/>
          </a:xfrm>
          <a:prstGeom prst="rect">
            <a:avLst/>
          </a:prstGeom>
          <a:noFill/>
        </p:spPr>
        <p:txBody>
          <a:bodyPr wrap="square" lIns="0" tIns="0" rIns="0" bIns="0" anchor="t">
            <a:spAutoFit/>
          </a:bodyPr>
          <a:lstStyle/>
          <a:p>
            <a:pPr algn="l"/>
            <a:r>
              <a:rPr sz="1900" b="1" i="0">
                <a:solidFill>
                  <a:srgbClr val="0B2A6B"/>
                </a:solidFill>
                <a:latin typeface="Cambria"/>
              </a:rPr>
              <a:t>Kamogelo Nondula</a:t>
            </a:r>
          </a:p>
        </p:txBody>
      </p:sp>
      <p:sp>
        <p:nvSpPr>
          <p:cNvPr id="7" name="Team member 1"/>
          <p:cNvSpPr txBox="1"/>
          <p:nvPr/>
        </p:nvSpPr>
        <p:spPr>
          <a:xfrm>
            <a:off x="685800" y="3429000"/>
            <a:ext cx="1828800" cy="457200"/>
          </a:xfrm>
          <a:prstGeom prst="rect">
            <a:avLst/>
          </a:prstGeom>
          <a:noFill/>
        </p:spPr>
        <p:txBody>
          <a:bodyPr wrap="square" lIns="0" tIns="0" rIns="0" bIns="0" anchor="t">
            <a:spAutoFit/>
          </a:bodyPr>
          <a:lstStyle/>
          <a:p>
            <a:pPr algn="l"/>
            <a:r>
              <a:rPr sz="1300" b="1" i="0">
                <a:solidFill>
                  <a:srgbClr val="1FA37A"/>
                </a:solidFill>
                <a:latin typeface="Calibri"/>
              </a:rPr>
              <a:t>Member 1 | Group leader</a:t>
            </a:r>
          </a:p>
        </p:txBody>
      </p:sp>
      <p:sp>
        <p:nvSpPr>
          <p:cNvPr id="8" name="Team role 1"/>
          <p:cNvSpPr txBox="1"/>
          <p:nvPr/>
        </p:nvSpPr>
        <p:spPr>
          <a:xfrm>
            <a:off x="685800" y="3931920"/>
            <a:ext cx="1828800" cy="1097280"/>
          </a:xfrm>
          <a:prstGeom prst="rect">
            <a:avLst/>
          </a:prstGeom>
          <a:noFill/>
        </p:spPr>
        <p:txBody>
          <a:bodyPr wrap="square" lIns="0" tIns="0" rIns="0" bIns="0" anchor="t">
            <a:spAutoFit/>
          </a:bodyPr>
          <a:lstStyle/>
          <a:p>
            <a:pPr algn="l"/>
            <a:r>
              <a:rPr sz="1400" b="0" i="0">
                <a:solidFill>
                  <a:srgbClr val="0B2A6B"/>
                </a:solidFill>
                <a:latin typeface="Calibri"/>
              </a:rPr>
              <a:t>Technical lead and integration</a:t>
            </a:r>
          </a:p>
        </p:txBody>
      </p:sp>
      <p:sp>
        <p:nvSpPr>
          <p:cNvPr id="9" name="Team card 2"/>
          <p:cNvSpPr/>
          <p:nvPr/>
        </p:nvSpPr>
        <p:spPr>
          <a:xfrm>
            <a:off x="2788920" y="210312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am bar 2"/>
          <p:cNvSpPr/>
          <p:nvPr/>
        </p:nvSpPr>
        <p:spPr>
          <a:xfrm>
            <a:off x="2788920" y="2103120"/>
            <a:ext cx="2103120" cy="109728"/>
          </a:xfrm>
          <a:prstGeom prst="rect">
            <a:avLst/>
          </a:prstGeom>
          <a:solidFill>
            <a:srgbClr val="1FA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am name 2"/>
          <p:cNvSpPr txBox="1"/>
          <p:nvPr/>
        </p:nvSpPr>
        <p:spPr>
          <a:xfrm>
            <a:off x="2926080" y="2468880"/>
            <a:ext cx="1828800" cy="914400"/>
          </a:xfrm>
          <a:prstGeom prst="rect">
            <a:avLst/>
          </a:prstGeom>
          <a:noFill/>
        </p:spPr>
        <p:txBody>
          <a:bodyPr wrap="square" lIns="0" tIns="0" rIns="0" bIns="0" anchor="t">
            <a:spAutoFit/>
          </a:bodyPr>
          <a:lstStyle/>
          <a:p>
            <a:pPr algn="l"/>
            <a:r>
              <a:rPr sz="1900" b="1" i="0">
                <a:solidFill>
                  <a:srgbClr val="0B2A6B"/>
                </a:solidFill>
                <a:latin typeface="Cambria"/>
              </a:rPr>
              <a:t>Yanelisa Mzizi</a:t>
            </a:r>
          </a:p>
        </p:txBody>
      </p:sp>
      <p:sp>
        <p:nvSpPr>
          <p:cNvPr id="12" name="Team member 2"/>
          <p:cNvSpPr txBox="1"/>
          <p:nvPr/>
        </p:nvSpPr>
        <p:spPr>
          <a:xfrm>
            <a:off x="2926080" y="3429000"/>
            <a:ext cx="1828800" cy="457200"/>
          </a:xfrm>
          <a:prstGeom prst="rect">
            <a:avLst/>
          </a:prstGeom>
          <a:noFill/>
        </p:spPr>
        <p:txBody>
          <a:bodyPr wrap="square" lIns="0" tIns="0" rIns="0" bIns="0" anchor="t">
            <a:spAutoFit/>
          </a:bodyPr>
          <a:lstStyle/>
          <a:p>
            <a:pPr algn="l"/>
            <a:r>
              <a:rPr sz="1300" b="1" i="0">
                <a:solidFill>
                  <a:srgbClr val="1FA37A"/>
                </a:solidFill>
                <a:latin typeface="Calibri"/>
              </a:rPr>
              <a:t>Member 2</a:t>
            </a:r>
          </a:p>
        </p:txBody>
      </p:sp>
      <p:sp>
        <p:nvSpPr>
          <p:cNvPr id="13" name="Team role 2"/>
          <p:cNvSpPr txBox="1"/>
          <p:nvPr/>
        </p:nvSpPr>
        <p:spPr>
          <a:xfrm>
            <a:off x="2926080" y="3931920"/>
            <a:ext cx="1828800" cy="1097280"/>
          </a:xfrm>
          <a:prstGeom prst="rect">
            <a:avLst/>
          </a:prstGeom>
          <a:noFill/>
        </p:spPr>
        <p:txBody>
          <a:bodyPr wrap="square" lIns="0" tIns="0" rIns="0" bIns="0" anchor="t">
            <a:spAutoFit/>
          </a:bodyPr>
          <a:lstStyle/>
          <a:p>
            <a:pPr algn="l"/>
            <a:r>
              <a:rPr sz="1400" b="0" i="0">
                <a:solidFill>
                  <a:srgbClr val="0B2A6B"/>
                </a:solidFill>
                <a:latin typeface="Calibri"/>
              </a:rPr>
              <a:t>Data engineering and analysis</a:t>
            </a:r>
          </a:p>
        </p:txBody>
      </p:sp>
      <p:sp>
        <p:nvSpPr>
          <p:cNvPr id="14" name="Team card 3"/>
          <p:cNvSpPr/>
          <p:nvPr/>
        </p:nvSpPr>
        <p:spPr>
          <a:xfrm>
            <a:off x="5029200" y="210312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am bar 3"/>
          <p:cNvSpPr/>
          <p:nvPr/>
        </p:nvSpPr>
        <p:spPr>
          <a:xfrm>
            <a:off x="5029200" y="2103120"/>
            <a:ext cx="2103120" cy="109728"/>
          </a:xfrm>
          <a:prstGeom prst="rect">
            <a:avLst/>
          </a:prstGeom>
          <a:solidFill>
            <a:srgbClr val="1FA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am name 3"/>
          <p:cNvSpPr txBox="1"/>
          <p:nvPr/>
        </p:nvSpPr>
        <p:spPr>
          <a:xfrm>
            <a:off x="5166360" y="2468880"/>
            <a:ext cx="1828800" cy="914400"/>
          </a:xfrm>
          <a:prstGeom prst="rect">
            <a:avLst/>
          </a:prstGeom>
          <a:noFill/>
        </p:spPr>
        <p:txBody>
          <a:bodyPr wrap="square" lIns="0" tIns="0" rIns="0" bIns="0" anchor="t">
            <a:spAutoFit/>
          </a:bodyPr>
          <a:lstStyle/>
          <a:p>
            <a:pPr algn="l"/>
            <a:r>
              <a:rPr sz="1900" b="1" i="0">
                <a:solidFill>
                  <a:srgbClr val="0B2A6B"/>
                </a:solidFill>
                <a:latin typeface="Cambria"/>
              </a:rPr>
              <a:t>Luthando Rungqu</a:t>
            </a:r>
          </a:p>
        </p:txBody>
      </p:sp>
      <p:sp>
        <p:nvSpPr>
          <p:cNvPr id="17" name="Team member 3"/>
          <p:cNvSpPr txBox="1"/>
          <p:nvPr/>
        </p:nvSpPr>
        <p:spPr>
          <a:xfrm>
            <a:off x="5166360" y="3429000"/>
            <a:ext cx="1828800" cy="457200"/>
          </a:xfrm>
          <a:prstGeom prst="rect">
            <a:avLst/>
          </a:prstGeom>
          <a:noFill/>
        </p:spPr>
        <p:txBody>
          <a:bodyPr wrap="square" lIns="0" tIns="0" rIns="0" bIns="0" anchor="t">
            <a:spAutoFit/>
          </a:bodyPr>
          <a:lstStyle/>
          <a:p>
            <a:pPr algn="l"/>
            <a:r>
              <a:rPr sz="1300" b="1" i="0">
                <a:solidFill>
                  <a:srgbClr val="1FA37A"/>
                </a:solidFill>
                <a:latin typeface="Calibri"/>
              </a:rPr>
              <a:t>Member 3</a:t>
            </a:r>
          </a:p>
        </p:txBody>
      </p:sp>
      <p:sp>
        <p:nvSpPr>
          <p:cNvPr id="18" name="Team role 3"/>
          <p:cNvSpPr txBox="1"/>
          <p:nvPr/>
        </p:nvSpPr>
        <p:spPr>
          <a:xfrm>
            <a:off x="5166360" y="3931920"/>
            <a:ext cx="1828800" cy="1097280"/>
          </a:xfrm>
          <a:prstGeom prst="rect">
            <a:avLst/>
          </a:prstGeom>
          <a:noFill/>
        </p:spPr>
        <p:txBody>
          <a:bodyPr wrap="square" lIns="0" tIns="0" rIns="0" bIns="0" anchor="t">
            <a:spAutoFit/>
          </a:bodyPr>
          <a:lstStyle/>
          <a:p>
            <a:pPr algn="l"/>
            <a:r>
              <a:rPr sz="1400" b="0" i="0">
                <a:solidFill>
                  <a:srgbClr val="0B2A6B"/>
                </a:solidFill>
                <a:latin typeface="Calibri"/>
              </a:rPr>
              <a:t>Machine learning and decision science</a:t>
            </a:r>
          </a:p>
        </p:txBody>
      </p:sp>
      <p:sp>
        <p:nvSpPr>
          <p:cNvPr id="19" name="Team card 4"/>
          <p:cNvSpPr/>
          <p:nvPr/>
        </p:nvSpPr>
        <p:spPr>
          <a:xfrm>
            <a:off x="7269480" y="210312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am bar 4"/>
          <p:cNvSpPr/>
          <p:nvPr/>
        </p:nvSpPr>
        <p:spPr>
          <a:xfrm>
            <a:off x="7269480" y="2103120"/>
            <a:ext cx="2103120" cy="109728"/>
          </a:xfrm>
          <a:prstGeom prst="rect">
            <a:avLst/>
          </a:prstGeom>
          <a:solidFill>
            <a:srgbClr val="1FA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am name 4"/>
          <p:cNvSpPr txBox="1"/>
          <p:nvPr/>
        </p:nvSpPr>
        <p:spPr>
          <a:xfrm>
            <a:off x="7406640" y="2468880"/>
            <a:ext cx="1828800" cy="914400"/>
          </a:xfrm>
          <a:prstGeom prst="rect">
            <a:avLst/>
          </a:prstGeom>
          <a:noFill/>
        </p:spPr>
        <p:txBody>
          <a:bodyPr wrap="square" lIns="0" tIns="0" rIns="0" bIns="0" anchor="t">
            <a:spAutoFit/>
          </a:bodyPr>
          <a:lstStyle/>
          <a:p>
            <a:pPr algn="l"/>
            <a:r>
              <a:rPr sz="1900" b="1" i="0">
                <a:solidFill>
                  <a:srgbClr val="0B2A6B"/>
                </a:solidFill>
                <a:latin typeface="Cambria"/>
              </a:rPr>
              <a:t>Nondumiso Mkhonto</a:t>
            </a:r>
          </a:p>
        </p:txBody>
      </p:sp>
      <p:sp>
        <p:nvSpPr>
          <p:cNvPr id="22" name="Team member 4"/>
          <p:cNvSpPr txBox="1"/>
          <p:nvPr/>
        </p:nvSpPr>
        <p:spPr>
          <a:xfrm>
            <a:off x="7406640" y="3429000"/>
            <a:ext cx="1828800" cy="457200"/>
          </a:xfrm>
          <a:prstGeom prst="rect">
            <a:avLst/>
          </a:prstGeom>
          <a:noFill/>
        </p:spPr>
        <p:txBody>
          <a:bodyPr wrap="square" lIns="0" tIns="0" rIns="0" bIns="0" anchor="t">
            <a:spAutoFit/>
          </a:bodyPr>
          <a:lstStyle/>
          <a:p>
            <a:pPr algn="l"/>
            <a:r>
              <a:rPr sz="1300" b="1" i="0">
                <a:solidFill>
                  <a:srgbClr val="1FA37A"/>
                </a:solidFill>
                <a:latin typeface="Calibri"/>
              </a:rPr>
              <a:t>Member 4</a:t>
            </a:r>
          </a:p>
        </p:txBody>
      </p:sp>
      <p:sp>
        <p:nvSpPr>
          <p:cNvPr id="23" name="Team role 4"/>
          <p:cNvSpPr txBox="1"/>
          <p:nvPr/>
        </p:nvSpPr>
        <p:spPr>
          <a:xfrm>
            <a:off x="7406640" y="3931920"/>
            <a:ext cx="1828800" cy="1097280"/>
          </a:xfrm>
          <a:prstGeom prst="rect">
            <a:avLst/>
          </a:prstGeom>
          <a:noFill/>
        </p:spPr>
        <p:txBody>
          <a:bodyPr wrap="square" lIns="0" tIns="0" rIns="0" bIns="0" anchor="t">
            <a:spAutoFit/>
          </a:bodyPr>
          <a:lstStyle/>
          <a:p>
            <a:pPr algn="l"/>
            <a:r>
              <a:rPr sz="1400" b="0" i="0">
                <a:solidFill>
                  <a:srgbClr val="0B2A6B"/>
                </a:solidFill>
                <a:latin typeface="Calibri"/>
              </a:rPr>
              <a:t>Prototype and user experience</a:t>
            </a:r>
          </a:p>
        </p:txBody>
      </p:sp>
      <p:sp>
        <p:nvSpPr>
          <p:cNvPr id="24" name="Team card 5"/>
          <p:cNvSpPr/>
          <p:nvPr/>
        </p:nvSpPr>
        <p:spPr>
          <a:xfrm>
            <a:off x="9509760" y="2103120"/>
            <a:ext cx="210312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am bar 5"/>
          <p:cNvSpPr/>
          <p:nvPr/>
        </p:nvSpPr>
        <p:spPr>
          <a:xfrm>
            <a:off x="9509760" y="2103120"/>
            <a:ext cx="2103120" cy="109728"/>
          </a:xfrm>
          <a:prstGeom prst="rect">
            <a:avLst/>
          </a:prstGeom>
          <a:solidFill>
            <a:srgbClr val="1FA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am name 5"/>
          <p:cNvSpPr txBox="1"/>
          <p:nvPr/>
        </p:nvSpPr>
        <p:spPr>
          <a:xfrm>
            <a:off x="9646920" y="2468880"/>
            <a:ext cx="1828800" cy="914400"/>
          </a:xfrm>
          <a:prstGeom prst="rect">
            <a:avLst/>
          </a:prstGeom>
          <a:noFill/>
        </p:spPr>
        <p:txBody>
          <a:bodyPr wrap="square" lIns="0" tIns="0" rIns="0" bIns="0" anchor="t">
            <a:spAutoFit/>
          </a:bodyPr>
          <a:lstStyle/>
          <a:p>
            <a:pPr algn="l"/>
            <a:r>
              <a:rPr sz="1900" b="1" i="0">
                <a:solidFill>
                  <a:srgbClr val="0B2A6B"/>
                </a:solidFill>
                <a:latin typeface="Cambria"/>
              </a:rPr>
              <a:t>Andile Ntombela</a:t>
            </a:r>
          </a:p>
        </p:txBody>
      </p:sp>
      <p:sp>
        <p:nvSpPr>
          <p:cNvPr id="27" name="Team member 5"/>
          <p:cNvSpPr txBox="1"/>
          <p:nvPr/>
        </p:nvSpPr>
        <p:spPr>
          <a:xfrm>
            <a:off x="9646920" y="3429000"/>
            <a:ext cx="1828800" cy="457200"/>
          </a:xfrm>
          <a:prstGeom prst="rect">
            <a:avLst/>
          </a:prstGeom>
          <a:noFill/>
        </p:spPr>
        <p:txBody>
          <a:bodyPr wrap="square" lIns="0" tIns="0" rIns="0" bIns="0" anchor="t">
            <a:spAutoFit/>
          </a:bodyPr>
          <a:lstStyle/>
          <a:p>
            <a:pPr algn="l"/>
            <a:r>
              <a:rPr sz="1300" b="1" i="0">
                <a:solidFill>
                  <a:srgbClr val="1FA37A"/>
                </a:solidFill>
                <a:latin typeface="Calibri"/>
              </a:rPr>
              <a:t>Member 5</a:t>
            </a:r>
          </a:p>
        </p:txBody>
      </p:sp>
      <p:sp>
        <p:nvSpPr>
          <p:cNvPr id="28" name="Team role 5"/>
          <p:cNvSpPr txBox="1"/>
          <p:nvPr/>
        </p:nvSpPr>
        <p:spPr>
          <a:xfrm>
            <a:off x="9646920" y="3931920"/>
            <a:ext cx="1828800" cy="1097280"/>
          </a:xfrm>
          <a:prstGeom prst="rect">
            <a:avLst/>
          </a:prstGeom>
          <a:noFill/>
        </p:spPr>
        <p:txBody>
          <a:bodyPr wrap="square" lIns="0" tIns="0" rIns="0" bIns="0" anchor="t">
            <a:spAutoFit/>
          </a:bodyPr>
          <a:lstStyle/>
          <a:p>
            <a:pPr algn="l"/>
            <a:r>
              <a:rPr sz="1400" b="0" i="0">
                <a:solidFill>
                  <a:srgbClr val="0B2A6B"/>
                </a:solidFill>
                <a:latin typeface="Calibri"/>
              </a:rPr>
              <a:t>Impact, responsible AI and pitch</a:t>
            </a:r>
          </a:p>
        </p:txBody>
      </p:sp>
      <p:sp>
        <p:nvSpPr>
          <p:cNvPr id="29"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QuakeFix">
  <a:themeElements>
    <a:clrScheme name="QuakeFix">
      <a:dk1>
        <a:srgbClr val="0B2A6B"/>
      </a:dk1>
      <a:lt1>
        <a:srgbClr val="FFFFFF"/>
      </a:lt1>
      <a:dk2>
        <a:srgbClr val="0F1F3D"/>
      </a:dk2>
      <a:lt2>
        <a:srgbClr val="F4EBD9"/>
      </a:lt2>
      <a:accent1>
        <a:srgbClr val="1FA37A"/>
      </a:accent1>
      <a:accent2>
        <a:srgbClr val="E36414"/>
      </a:accent2>
      <a:accent3>
        <a:srgbClr val="F5A623"/>
      </a:accent3>
      <a:accent4>
        <a:srgbClr val="0B2A6B"/>
      </a:accent4>
      <a:accent5>
        <a:srgbClr val="6FA8DC"/>
      </a:accent5>
      <a:accent6>
        <a:srgbClr val="8FBF9F"/>
      </a:accent6>
      <a:hlink>
        <a:srgbClr val="1FA37A"/>
      </a:hlink>
      <a:folHlink>
        <a:srgbClr val="6FA8DC"/>
      </a:folHlink>
    </a:clrScheme>
    <a:fontScheme name="QuakeF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372</TotalTime>
  <Words>1120</Words>
  <Application>Microsoft Office PowerPoint</Application>
  <PresentationFormat>Widescreen</PresentationFormat>
  <Paragraphs>173</Paragraphs>
  <Slides>14</Slides>
  <Notes>11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QuakeFix</vt:lpstr>
      <vt:lpstr>PowerPoint Presentation</vt:lpstr>
      <vt:lpstr>The problem: one quake, five failures</vt:lpstr>
      <vt:lpstr>Who it helps</vt:lpstr>
      <vt:lpstr>The data behind it</vt:lpstr>
      <vt:lpstr>Our solution</vt:lpstr>
      <vt:lpstr>Architecture</vt:lpstr>
      <vt:lpstr>Live demo</vt:lpstr>
      <vt:lpstr>Human control and field relay</vt:lpstr>
      <vt:lpstr>PowerPoint Presentation</vt:lpstr>
      <vt:lpstr>Model results</vt:lpstr>
      <vt:lpstr>Explainable predictions</vt:lpstr>
      <vt:lpstr>Responsible AI</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QuakeFix - IBM Z Datathon 2026</dc:title>
  <dc:subject>PptxGenJS Presentation</dc:subject>
  <dc:creator>PptxGenJS</dc:creator>
  <cp:lastModifiedBy>MZIZI, YANELISA</cp:lastModifiedBy>
  <cp:revision>3</cp:revision>
  <dcterms:created xsi:type="dcterms:W3CDTF">2026-10-18T05:30:44Z</dcterms:created>
  <dcterms:modified xsi:type="dcterms:W3CDTF">2026-10-18T03:24:54Z</dcterms:modified>
</cp:coreProperties>
</file>